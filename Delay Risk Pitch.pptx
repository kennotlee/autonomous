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embeddedFontLst>
    <p:embeddedFont>
      <p:font typeface="IBM Plex Sans" panose="020B0503050203000203" pitchFamily="34" charset="0"/>
      <p:regular r:id="rId14"/>
      <p:bold r:id="rId15"/>
    </p:embeddedFont>
    <p:embeddedFont>
      <p:font typeface="Space Grotesk" panose="020B0604020202020204" charset="0"/>
      <p:regular r:id="rId16"/>
      <p:bold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2" d="100"/>
          <a:sy n="92" d="100"/>
        </p:scale>
        <p:origin x="66" y="1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6832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 Meet the traffic management coordinator at Atlanta or Dallas–Fort Worth. Every afternoon they ask: which flights tonight will be badly late? We give them that warning 3, 6, 9 or 12 hours ahead, so they can plan instead of react.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So the question is simple. For every departure and arrival at these two airports, what’s the chance it ends up more than 45 minutes late? That’s the organisers’ definition. Cancelled flights aren’t scored.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 Two sources. The organisers’ flight file, January 2023 to July 2025, gives us about 25,600 departures and arrivals; 10.7% were badly late. We join it to 45,000 hours of airport weather, including wind direction.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s] Five steps. Each flight becomes a departure event and an arrival event. We attach only weather we could have known in advance, including wind across and along the runway. One LightGBM model scores the risk. The dashboard shows the score, its reasons and a rule-based suggestion. No LLM at runtime.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 The easy way to cheat is to use the weather at flight time. We don’t. We only use weather observed at least h hours before, plus one extra hour, because reports can be stamped up to 52 minutes early. A test checks every row.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 Here’s the dashboard. The risk board suggests actions starting with “Consider”, each showing the rule, the weather reading and its timestamp. The flight table explains every score. The decision log keeps the coordinator in charge: act, watch or override.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PR-AUC measures how well we rank late flights first; guessing scores 0.13. Our model scores 0.22, 1.7 times better. It ties the weather rule at 3 hours but holds steady, beating it by 9% at 12 hours. It catches about half of badly late flights.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Here’s the insight. Weather directly causes only 8% of severe-delay minutes; late aircraft and airline operations cause most. But when it storms, the badly-late rate jumps from 11% to 38%. And our arrivals model is 4–13% better in bad-weather hours.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 Where does it fail? DFW, 23 April 2025: nine of eleven flights badly late, we expected two. Three hours before, it was just overcast; the storm came later. The dashboard shows its limits openly, so the coordinator knows when not to trust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 Limits: most misses are calm-weather delays, and 2025 was busier than training. Next: congestion features, forecasts and origin weather. The payoff we measured: about half of badly late flights flagged hours ahead, giving the coordinator time to plan. 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not presented. Use for judge questions about data sources, licences, assumptions and AI use.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latin typeface="Space Grotesk" charset="0"/>
              <a:ea typeface="Space Grotesk" charset="0"/>
              <a:cs typeface="Space Grotesk" charset="0"/>
            </a:endParaRPr>
          </a:p>
        </p:txBody>
      </p:sp>
      <p:sp>
        <p:nvSpPr>
          <p:cNvPr id="3" name="Text Placeholder 2"/>
          <p:cNvSpPr>
            <a:spLocks noGrp="1"/>
          </p:cNvSpPr>
          <p:nvPr>
            <p:ph type="body" idx="101"/>
          </p:nvPr>
        </p:nvSpPr>
        <p:spPr>
          <a:xfrm>
            <a:off x="812800" y="1935481"/>
            <a:ext cx="10566400" cy="410971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latin typeface="IBM Plex Sans" charset="0"/>
              <a:ea typeface="IBM Plex Sans" charset="0"/>
              <a:cs typeface="IBM Plex Sans"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latin typeface="Space Grotesk" charset="0"/>
              <a:ea typeface="Space Grotesk" charset="0"/>
              <a:cs typeface="Space Grotesk" charset="0"/>
            </a:endParaRPr>
          </a:p>
        </p:txBody>
      </p:sp>
      <p:sp>
        <p:nvSpPr>
          <p:cNvPr id="3" name="Text Placeholder 2"/>
          <p:cNvSpPr>
            <a:spLocks noGrp="1"/>
          </p:cNvSpPr>
          <p:nvPr>
            <p:ph type="body" idx="101"/>
          </p:nvPr>
        </p:nvSpPr>
        <p:spPr>
          <a:xfrm>
            <a:off x="812800" y="1935481"/>
            <a:ext cx="10566400" cy="410971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latin typeface="IBM Plex Sans" charset="0"/>
              <a:ea typeface="IBM Plex Sans" charset="0"/>
              <a:cs typeface="IBM Plex Sans"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E8A33D"/>
                </a:solidFill>
                <a:latin typeface="IBM Plex Sans" pitchFamily="34" charset="0"/>
                <a:ea typeface="IBM Plex Sans" pitchFamily="34" charset="-122"/>
                <a:cs typeface="IBM Plex Sans" pitchFamily="34" charset="-120"/>
              </a:rPr>
              <a:t>CHALLENGE #5 · AI &amp; AEROSPACE TRACK</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659890"/>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7F5F0"/>
                </a:solidFill>
                <a:latin typeface="Space Grotesk" pitchFamily="34" charset="0"/>
                <a:ea typeface="Space Grotesk" pitchFamily="34" charset="-122"/>
                <a:cs typeface="Space Grotesk" pitchFamily="34" charset="-120"/>
              </a:rPr>
              <a:t>Which flights tonight</a:t>
            </a:r>
            <a:endParaRPr lang="en-US" sz="6000" dirty="0">
              <a:latin typeface="Space Grotesk" charset="0"/>
              <a:ea typeface="Space Grotesk" charset="0"/>
              <a:cs typeface="Space Grotesk" charset="0"/>
            </a:endParaRPr>
          </a:p>
          <a:p>
            <a:pPr marL="0" indent="0" algn="l">
              <a:lnSpc>
                <a:spcPts val="6300"/>
              </a:lnSpc>
              <a:buNone/>
            </a:pPr>
            <a:r>
              <a:rPr lang="en-US" sz="6000" b="1" i="0" dirty="0">
                <a:solidFill>
                  <a:srgbClr val="F7F5F0"/>
                </a:solidFill>
                <a:latin typeface="Space Grotesk" pitchFamily="34" charset="0"/>
                <a:ea typeface="Space Grotesk" pitchFamily="34" charset="-122"/>
                <a:cs typeface="Space Grotesk" pitchFamily="34" charset="-120"/>
              </a:rPr>
              <a:t>will be badly late?</a:t>
            </a:r>
            <a:endParaRPr lang="en-US" sz="6000" dirty="0">
              <a:latin typeface="Space Grotesk" charset="0"/>
              <a:ea typeface="Space Grotesk" charset="0"/>
              <a:cs typeface="Space Grotesk" charset="0"/>
            </a:endParaRPr>
          </a:p>
        </p:txBody>
      </p:sp>
      <p:sp>
        <p:nvSpPr>
          <p:cNvPr id="4" name="Text 2"/>
          <p:cNvSpPr/>
          <p:nvPr/>
        </p:nvSpPr>
        <p:spPr>
          <a:xfrm>
            <a:off x="812800" y="3514090"/>
            <a:ext cx="10883392" cy="75184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BFCCDD"/>
                </a:solidFill>
                <a:latin typeface="IBM Plex Sans" pitchFamily="34" charset="0"/>
                <a:ea typeface="IBM Plex Sans" pitchFamily="34" charset="-122"/>
                <a:cs typeface="IBM Plex Sans" pitchFamily="34" charset="-120"/>
              </a:rPr>
              <a:t>We warn the traffic management coordinator at Atlanta (ATL) and Dallas–Fort Worth (DFW) </a:t>
            </a:r>
            <a:r>
              <a:rPr lang="en-US" sz="2200" dirty="0">
                <a:solidFill>
                  <a:srgbClr val="E8A33D"/>
                </a:solidFill>
                <a:latin typeface="IBM Plex Sans" pitchFamily="34" charset="0"/>
                <a:ea typeface="IBM Plex Sans" pitchFamily="34" charset="-122"/>
                <a:cs typeface="IBM Plex Sans" pitchFamily="34" charset="-120"/>
              </a:rPr>
              <a:t>3, 6, 9 or 12 hours ahead</a:t>
            </a:r>
            <a:r>
              <a:rPr lang="en-US" sz="2200" dirty="0">
                <a:solidFill>
                  <a:srgbClr val="BFCCDD"/>
                </a:solidFill>
                <a:latin typeface="IBM Plex Sans" pitchFamily="34" charset="0"/>
                <a:ea typeface="IBM Plex Sans" pitchFamily="34" charset="-122"/>
                <a:cs typeface="IBM Plex Sans" pitchFamily="34" charset="-120"/>
              </a:rPr>
              <a:t>.</a:t>
            </a:r>
            <a:endParaRPr lang="en-US" sz="2200" dirty="0">
              <a:latin typeface="IBM Plex Sans" charset="0"/>
              <a:ea typeface="IBM Plex Sans" charset="0"/>
              <a:cs typeface="IBM Plex Sans" charset="0"/>
            </a:endParaRPr>
          </a:p>
        </p:txBody>
      </p:sp>
      <p:sp>
        <p:nvSpPr>
          <p:cNvPr id="5" name="Shape 3"/>
          <p:cNvSpPr/>
          <p:nvPr/>
        </p:nvSpPr>
        <p:spPr>
          <a:xfrm>
            <a:off x="815975" y="4877435"/>
            <a:ext cx="5175250" cy="961390"/>
          </a:xfrm>
          <a:prstGeom prst="roundRect">
            <a:avLst>
              <a:gd name="adj" fmla="val 10238"/>
            </a:avLst>
          </a:prstGeom>
          <a:solidFill>
            <a:srgbClr val="1E2D4F"/>
          </a:solidFill>
          <a:ln w="6350">
            <a:solidFill>
              <a:srgbClr val="2E4068"/>
            </a:solidFill>
            <a:prstDash val="solid"/>
          </a:ln>
        </p:spPr>
        <p:txBody>
          <a:bodyPr/>
          <a:lstStyle/>
          <a:p>
            <a:endParaRPr lang="en-SG"/>
          </a:p>
        </p:txBody>
      </p:sp>
      <p:sp>
        <p:nvSpPr>
          <p:cNvPr id="6" name="Text 4"/>
          <p:cNvSpPr/>
          <p:nvPr/>
        </p:nvSpPr>
        <p:spPr>
          <a:xfrm>
            <a:off x="1022350" y="5083810"/>
            <a:ext cx="4905375"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8A33D"/>
                </a:solidFill>
                <a:latin typeface="IBM Plex Sans" pitchFamily="34" charset="0"/>
                <a:ea typeface="IBM Plex Sans" pitchFamily="34" charset="-122"/>
                <a:cs typeface="IBM Plex Sans" pitchFamily="34" charset="-120"/>
              </a:rPr>
              <a:t>USER</a:t>
            </a:r>
            <a:endParaRPr lang="en-US" sz="1200" dirty="0">
              <a:latin typeface="IBM Plex Sans" charset="0"/>
              <a:ea typeface="IBM Plex Sans" charset="0"/>
              <a:cs typeface="IBM Plex Sans" charset="0"/>
            </a:endParaRPr>
          </a:p>
        </p:txBody>
      </p:sp>
      <p:sp>
        <p:nvSpPr>
          <p:cNvPr id="7" name="Text 5"/>
          <p:cNvSpPr/>
          <p:nvPr/>
        </p:nvSpPr>
        <p:spPr>
          <a:xfrm>
            <a:off x="1022350" y="5347970"/>
            <a:ext cx="4905375"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5F0"/>
                </a:solidFill>
                <a:latin typeface="IBM Plex Sans" pitchFamily="34" charset="0"/>
                <a:ea typeface="IBM Plex Sans" pitchFamily="34" charset="-122"/>
                <a:cs typeface="IBM Plex Sans" pitchFamily="34" charset="-120"/>
              </a:rPr>
              <a:t>ATC traffic management coordinator</a:t>
            </a:r>
            <a:endParaRPr lang="en-US" sz="1600" dirty="0">
              <a:latin typeface="IBM Plex Sans" charset="0"/>
              <a:ea typeface="IBM Plex Sans" charset="0"/>
              <a:cs typeface="IBM Plex Sans" charset="0"/>
            </a:endParaRPr>
          </a:p>
        </p:txBody>
      </p:sp>
      <p:sp>
        <p:nvSpPr>
          <p:cNvPr id="8" name="Shape 6"/>
          <p:cNvSpPr/>
          <p:nvPr/>
        </p:nvSpPr>
        <p:spPr>
          <a:xfrm>
            <a:off x="6200775" y="4877435"/>
            <a:ext cx="5175250" cy="961390"/>
          </a:xfrm>
          <a:prstGeom prst="roundRect">
            <a:avLst>
              <a:gd name="adj" fmla="val 10238"/>
            </a:avLst>
          </a:prstGeom>
          <a:solidFill>
            <a:srgbClr val="1E2D4F"/>
          </a:solidFill>
          <a:ln w="6350">
            <a:solidFill>
              <a:srgbClr val="2E4068"/>
            </a:solidFill>
            <a:prstDash val="solid"/>
          </a:ln>
        </p:spPr>
        <p:txBody>
          <a:bodyPr/>
          <a:lstStyle/>
          <a:p>
            <a:endParaRPr lang="en-SG"/>
          </a:p>
        </p:txBody>
      </p:sp>
      <p:sp>
        <p:nvSpPr>
          <p:cNvPr id="9" name="Text 7"/>
          <p:cNvSpPr/>
          <p:nvPr/>
        </p:nvSpPr>
        <p:spPr>
          <a:xfrm>
            <a:off x="6407150" y="5083810"/>
            <a:ext cx="4905375"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8A33D"/>
                </a:solidFill>
                <a:latin typeface="IBM Plex Sans" pitchFamily="34" charset="0"/>
                <a:ea typeface="IBM Plex Sans" pitchFamily="34" charset="-122"/>
                <a:cs typeface="IBM Plex Sans" pitchFamily="34" charset="-120"/>
              </a:rPr>
              <a:t>THEIR DAILY QUESTION</a:t>
            </a:r>
            <a:endParaRPr lang="en-US" sz="1200" dirty="0">
              <a:latin typeface="IBM Plex Sans" charset="0"/>
              <a:ea typeface="IBM Plex Sans" charset="0"/>
              <a:cs typeface="IBM Plex Sans" charset="0"/>
            </a:endParaRPr>
          </a:p>
        </p:txBody>
      </p:sp>
      <p:sp>
        <p:nvSpPr>
          <p:cNvPr id="10" name="Text 8"/>
          <p:cNvSpPr/>
          <p:nvPr/>
        </p:nvSpPr>
        <p:spPr>
          <a:xfrm>
            <a:off x="6407150" y="5347970"/>
            <a:ext cx="4905375"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5F0"/>
                </a:solidFill>
                <a:latin typeface="IBM Plex Sans" pitchFamily="34" charset="0"/>
                <a:ea typeface="IBM Plex Sans" pitchFamily="34" charset="-122"/>
                <a:cs typeface="IBM Plex Sans" pitchFamily="34" charset="-120"/>
              </a:rPr>
              <a:t>“Which flights tonight will be badly late?”</a:t>
            </a:r>
            <a:endParaRPr lang="en-US" sz="1600" dirty="0">
              <a:latin typeface="IBM Plex Sans" charset="0"/>
              <a:ea typeface="IBM Plex Sans" charset="0"/>
              <a:cs typeface="IBM Plex Sans" charset="0"/>
            </a:endParaRPr>
          </a:p>
        </p:txBody>
      </p:sp>
      <p:sp>
        <p:nvSpPr>
          <p:cNvPr id="11" name="Text 9"/>
          <p:cNvSpPr/>
          <p:nvPr/>
        </p:nvSpPr>
        <p:spPr>
          <a:xfrm>
            <a:off x="812800" y="623824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0BA"/>
                </a:solidFill>
                <a:latin typeface="IBM Plex Sans" pitchFamily="34" charset="0"/>
                <a:ea typeface="IBM Plex Sans" pitchFamily="34" charset="-122"/>
                <a:cs typeface="IBM Plex Sans" pitchFamily="34" charset="-120"/>
              </a:rPr>
              <a:t>Autonomous SG 2026 · Acacia Hackathon Society × NUS</a:t>
            </a:r>
            <a:endParaRPr lang="en-US" sz="1200" dirty="0">
              <a:latin typeface="IBM Plex Sans" charset="0"/>
              <a:ea typeface="IBM Plex Sans" charset="0"/>
              <a:cs typeface="IBM Plex Sans"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152146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A15C07"/>
                </a:solidFill>
                <a:latin typeface="IBM Plex Sans" pitchFamily="34" charset="0"/>
                <a:ea typeface="IBM Plex Sans" pitchFamily="34" charset="-122"/>
                <a:cs typeface="IBM Plex Sans" pitchFamily="34" charset="-120"/>
              </a:rPr>
              <a:t>THE QUESTION, SIMPLY</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2039620"/>
            <a:ext cx="10883392" cy="160274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4213D"/>
                </a:solidFill>
                <a:latin typeface="Space Grotesk" pitchFamily="34" charset="0"/>
                <a:ea typeface="Space Grotesk" pitchFamily="34" charset="-122"/>
                <a:cs typeface="Space Grotesk" pitchFamily="34" charset="-120"/>
              </a:rPr>
              <a:t>For every departure and arrival at ATL or DFW:</a:t>
            </a:r>
            <a:endParaRPr lang="en-US" sz="3600" dirty="0">
              <a:latin typeface="Space Grotesk" charset="0"/>
              <a:ea typeface="Space Grotesk" charset="0"/>
              <a:cs typeface="Space Grotesk" charset="0"/>
            </a:endParaRPr>
          </a:p>
          <a:p>
            <a:pPr marL="0" indent="0" algn="l">
              <a:lnSpc>
                <a:spcPts val="4140"/>
              </a:lnSpc>
              <a:buNone/>
            </a:pPr>
            <a:r>
              <a:rPr lang="en-US" sz="3600" b="1" i="0" dirty="0">
                <a:solidFill>
                  <a:srgbClr val="A15C07"/>
                </a:solidFill>
                <a:latin typeface="Space Grotesk" pitchFamily="34" charset="0"/>
                <a:ea typeface="Space Grotesk" pitchFamily="34" charset="-122"/>
                <a:cs typeface="Space Grotesk" pitchFamily="34" charset="-120"/>
              </a:rPr>
              <a:t>what’s the chance it’s more than 45 minutes late?</a:t>
            </a:r>
            <a:endParaRPr lang="en-US" sz="3600" dirty="0">
              <a:latin typeface="Space Grotesk" charset="0"/>
              <a:ea typeface="Space Grotesk" charset="0"/>
              <a:cs typeface="Space Grotesk" charset="0"/>
            </a:endParaRPr>
          </a:p>
        </p:txBody>
      </p:sp>
      <p:sp>
        <p:nvSpPr>
          <p:cNvPr id="4" name="Shape 2"/>
          <p:cNvSpPr/>
          <p:nvPr/>
        </p:nvSpPr>
        <p:spPr>
          <a:xfrm>
            <a:off x="815975" y="3924935"/>
            <a:ext cx="3380317" cy="1205230"/>
          </a:xfrm>
          <a:prstGeom prst="roundRect">
            <a:avLst>
              <a:gd name="adj" fmla="val 8166"/>
            </a:avLst>
          </a:prstGeom>
          <a:solidFill>
            <a:srgbClr val="FFFDF8"/>
          </a:solidFill>
          <a:ln w="6350">
            <a:solidFill>
              <a:srgbClr val="E2DED3"/>
            </a:solidFill>
            <a:prstDash val="solid"/>
          </a:ln>
        </p:spPr>
        <p:txBody>
          <a:bodyPr/>
          <a:lstStyle/>
          <a:p>
            <a:endParaRPr lang="en-SG"/>
          </a:p>
        </p:txBody>
      </p:sp>
      <p:sp>
        <p:nvSpPr>
          <p:cNvPr id="5" name="Text 3"/>
          <p:cNvSpPr/>
          <p:nvPr/>
        </p:nvSpPr>
        <p:spPr>
          <a:xfrm>
            <a:off x="1022350" y="4131310"/>
            <a:ext cx="305659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Departures</a:t>
            </a:r>
            <a:endParaRPr lang="en-US" sz="1600" dirty="0">
              <a:latin typeface="IBM Plex Sans" charset="0"/>
              <a:ea typeface="IBM Plex Sans" charset="0"/>
              <a:cs typeface="IBM Plex Sans" charset="0"/>
            </a:endParaRPr>
          </a:p>
        </p:txBody>
      </p:sp>
      <p:sp>
        <p:nvSpPr>
          <p:cNvPr id="6" name="Text 4"/>
          <p:cNvSpPr/>
          <p:nvPr/>
        </p:nvSpPr>
        <p:spPr>
          <a:xfrm>
            <a:off x="1022350" y="4425950"/>
            <a:ext cx="305659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Badly late = departure delay over 45 min</a:t>
            </a:r>
            <a:endParaRPr lang="en-US" sz="1400" dirty="0">
              <a:latin typeface="IBM Plex Sans" charset="0"/>
              <a:ea typeface="IBM Plex Sans" charset="0"/>
              <a:cs typeface="IBM Plex Sans" charset="0"/>
            </a:endParaRPr>
          </a:p>
        </p:txBody>
      </p:sp>
      <p:sp>
        <p:nvSpPr>
          <p:cNvPr id="7" name="Shape 5"/>
          <p:cNvSpPr/>
          <p:nvPr/>
        </p:nvSpPr>
        <p:spPr>
          <a:xfrm>
            <a:off x="4405842" y="3924935"/>
            <a:ext cx="3380317" cy="1205230"/>
          </a:xfrm>
          <a:prstGeom prst="roundRect">
            <a:avLst>
              <a:gd name="adj" fmla="val 8166"/>
            </a:avLst>
          </a:prstGeom>
          <a:solidFill>
            <a:srgbClr val="FFFDF8"/>
          </a:solidFill>
          <a:ln w="6350">
            <a:solidFill>
              <a:srgbClr val="E2DED3"/>
            </a:solidFill>
            <a:prstDash val="solid"/>
          </a:ln>
        </p:spPr>
        <p:txBody>
          <a:bodyPr/>
          <a:lstStyle/>
          <a:p>
            <a:endParaRPr lang="en-SG"/>
          </a:p>
        </p:txBody>
      </p:sp>
      <p:sp>
        <p:nvSpPr>
          <p:cNvPr id="8" name="Text 6"/>
          <p:cNvSpPr/>
          <p:nvPr/>
        </p:nvSpPr>
        <p:spPr>
          <a:xfrm>
            <a:off x="4612217" y="4131310"/>
            <a:ext cx="305659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Arrivals</a:t>
            </a:r>
            <a:endParaRPr lang="en-US" sz="1600" dirty="0">
              <a:latin typeface="IBM Plex Sans" charset="0"/>
              <a:ea typeface="IBM Plex Sans" charset="0"/>
              <a:cs typeface="IBM Plex Sans" charset="0"/>
            </a:endParaRPr>
          </a:p>
        </p:txBody>
      </p:sp>
      <p:sp>
        <p:nvSpPr>
          <p:cNvPr id="9" name="Text 7"/>
          <p:cNvSpPr/>
          <p:nvPr/>
        </p:nvSpPr>
        <p:spPr>
          <a:xfrm>
            <a:off x="4612217" y="4425950"/>
            <a:ext cx="317076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Badly late = arrival delay over 45 min</a:t>
            </a:r>
            <a:endParaRPr lang="en-US" sz="1400" dirty="0">
              <a:latin typeface="IBM Plex Sans" charset="0"/>
              <a:ea typeface="IBM Plex Sans" charset="0"/>
              <a:cs typeface="IBM Plex Sans" charset="0"/>
            </a:endParaRPr>
          </a:p>
        </p:txBody>
      </p:sp>
      <p:sp>
        <p:nvSpPr>
          <p:cNvPr id="10" name="Shape 8"/>
          <p:cNvSpPr/>
          <p:nvPr/>
        </p:nvSpPr>
        <p:spPr>
          <a:xfrm>
            <a:off x="7995708" y="3924935"/>
            <a:ext cx="3380317" cy="1205230"/>
          </a:xfrm>
          <a:prstGeom prst="roundRect">
            <a:avLst>
              <a:gd name="adj" fmla="val 8166"/>
            </a:avLst>
          </a:prstGeom>
          <a:solidFill>
            <a:srgbClr val="FFFDF8"/>
          </a:solidFill>
          <a:ln w="6350">
            <a:solidFill>
              <a:srgbClr val="E2DED3"/>
            </a:solidFill>
            <a:prstDash val="solid"/>
          </a:ln>
        </p:spPr>
        <p:txBody>
          <a:bodyPr/>
          <a:lstStyle/>
          <a:p>
            <a:endParaRPr lang="en-SG"/>
          </a:p>
        </p:txBody>
      </p:sp>
      <p:sp>
        <p:nvSpPr>
          <p:cNvPr id="11" name="Text 9"/>
          <p:cNvSpPr/>
          <p:nvPr/>
        </p:nvSpPr>
        <p:spPr>
          <a:xfrm>
            <a:off x="8202083" y="4131310"/>
            <a:ext cx="305659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Cancelled flights</a:t>
            </a:r>
            <a:endParaRPr lang="en-US" sz="1600" dirty="0">
              <a:latin typeface="IBM Plex Sans" charset="0"/>
              <a:ea typeface="IBM Plex Sans" charset="0"/>
              <a:cs typeface="IBM Plex Sans" charset="0"/>
            </a:endParaRPr>
          </a:p>
        </p:txBody>
      </p:sp>
      <p:sp>
        <p:nvSpPr>
          <p:cNvPr id="12" name="Text 10"/>
          <p:cNvSpPr/>
          <p:nvPr/>
        </p:nvSpPr>
        <p:spPr>
          <a:xfrm>
            <a:off x="8202083" y="4425950"/>
            <a:ext cx="305659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Not scored</a:t>
            </a:r>
            <a:endParaRPr lang="en-US" sz="1400" dirty="0">
              <a:latin typeface="IBM Plex Sans" charset="0"/>
              <a:ea typeface="IBM Plex Sans" charset="0"/>
              <a:cs typeface="IBM Plex Sans" charset="0"/>
            </a:endParaRPr>
          </a:p>
        </p:txBody>
      </p:sp>
      <p:sp>
        <p:nvSpPr>
          <p:cNvPr id="13" name="Text 11"/>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Target defined by the organisers · 2 / 10</a:t>
            </a:r>
            <a:endParaRPr lang="en-US" sz="1200" dirty="0">
              <a:latin typeface="IBM Plex Sans" charset="0"/>
              <a:ea typeface="IBM Plex Sans" charset="0"/>
              <a:cs typeface="IBM Plex Sans"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A15C07"/>
                </a:solidFill>
                <a:latin typeface="IBM Plex Sans" pitchFamily="34" charset="0"/>
                <a:ea typeface="IBM Plex Sans" pitchFamily="34" charset="-122"/>
                <a:cs typeface="IBM Plex Sans" pitchFamily="34" charset="-120"/>
              </a:rPr>
              <a:t>DATA</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Two sources, joined on time and airport</a:t>
            </a:r>
            <a:endParaRPr lang="en-US" sz="3600" dirty="0">
              <a:latin typeface="Space Grotesk" charset="0"/>
              <a:ea typeface="Space Grotesk" charset="0"/>
              <a:cs typeface="Space Grotesk" charset="0"/>
            </a:endParaRPr>
          </a:p>
        </p:txBody>
      </p:sp>
      <p:sp>
        <p:nvSpPr>
          <p:cNvPr id="4" name="Shape 2"/>
          <p:cNvSpPr/>
          <p:nvPr/>
        </p:nvSpPr>
        <p:spPr>
          <a:xfrm>
            <a:off x="815975" y="2498725"/>
            <a:ext cx="3380317" cy="1977390"/>
          </a:xfrm>
          <a:prstGeom prst="roundRect">
            <a:avLst>
              <a:gd name="adj" fmla="val 4978"/>
            </a:avLst>
          </a:prstGeom>
          <a:solidFill>
            <a:srgbClr val="FFFDF8"/>
          </a:solidFill>
          <a:ln w="6350">
            <a:solidFill>
              <a:srgbClr val="E2DED3"/>
            </a:solidFill>
            <a:prstDash val="solid"/>
          </a:ln>
        </p:spPr>
        <p:txBody>
          <a:bodyPr/>
          <a:lstStyle/>
          <a:p>
            <a:endParaRPr lang="en-SG"/>
          </a:p>
        </p:txBody>
      </p:sp>
      <p:sp>
        <p:nvSpPr>
          <p:cNvPr id="5" name="Text 3"/>
          <p:cNvSpPr/>
          <p:nvPr/>
        </p:nvSpPr>
        <p:spPr>
          <a:xfrm>
            <a:off x="1073150" y="2755900"/>
            <a:ext cx="2951946"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4213D"/>
                </a:solidFill>
                <a:latin typeface="Space Grotesk" pitchFamily="34" charset="0"/>
                <a:ea typeface="Space Grotesk" pitchFamily="34" charset="-122"/>
                <a:cs typeface="Space Grotesk" pitchFamily="34" charset="-120"/>
              </a:rPr>
              <a:t>25,612</a:t>
            </a:r>
            <a:endParaRPr lang="en-US" sz="6000" dirty="0">
              <a:latin typeface="Space Grotesk" charset="0"/>
              <a:ea typeface="Space Grotesk" charset="0"/>
              <a:cs typeface="Space Grotesk" charset="0"/>
            </a:endParaRPr>
          </a:p>
        </p:txBody>
      </p:sp>
      <p:sp>
        <p:nvSpPr>
          <p:cNvPr id="6" name="Text 4"/>
          <p:cNvSpPr/>
          <p:nvPr/>
        </p:nvSpPr>
        <p:spPr>
          <a:xfrm>
            <a:off x="1073150" y="3619500"/>
            <a:ext cx="2951946"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flight events at ATL/DFW</a:t>
            </a:r>
            <a:endParaRPr lang="en-US" sz="1600" dirty="0">
              <a:latin typeface="IBM Plex Sans" charset="0"/>
              <a:ea typeface="IBM Plex Sans" charset="0"/>
              <a:cs typeface="IBM Plex Sans" charset="0"/>
            </a:endParaRPr>
          </a:p>
        </p:txBody>
      </p:sp>
      <p:sp>
        <p:nvSpPr>
          <p:cNvPr id="7" name="Text 5"/>
          <p:cNvSpPr/>
          <p:nvPr/>
        </p:nvSpPr>
        <p:spPr>
          <a:xfrm>
            <a:off x="1073150" y="4005580"/>
            <a:ext cx="295194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16,151 departures · 9,461 arrivals</a:t>
            </a:r>
            <a:endParaRPr lang="en-US" sz="1200" dirty="0">
              <a:latin typeface="IBM Plex Sans" charset="0"/>
              <a:ea typeface="IBM Plex Sans" charset="0"/>
              <a:cs typeface="IBM Plex Sans" charset="0"/>
            </a:endParaRPr>
          </a:p>
        </p:txBody>
      </p:sp>
      <p:sp>
        <p:nvSpPr>
          <p:cNvPr id="8" name="Shape 6"/>
          <p:cNvSpPr/>
          <p:nvPr/>
        </p:nvSpPr>
        <p:spPr>
          <a:xfrm>
            <a:off x="4405842" y="2498725"/>
            <a:ext cx="3380317" cy="1977390"/>
          </a:xfrm>
          <a:prstGeom prst="roundRect">
            <a:avLst>
              <a:gd name="adj" fmla="val 4978"/>
            </a:avLst>
          </a:prstGeom>
          <a:solidFill>
            <a:srgbClr val="FFFDF8"/>
          </a:solidFill>
          <a:ln w="6350">
            <a:solidFill>
              <a:srgbClr val="E2DED3"/>
            </a:solidFill>
            <a:prstDash val="solid"/>
          </a:ln>
        </p:spPr>
        <p:txBody>
          <a:bodyPr/>
          <a:lstStyle/>
          <a:p>
            <a:endParaRPr lang="en-SG"/>
          </a:p>
        </p:txBody>
      </p:sp>
      <p:sp>
        <p:nvSpPr>
          <p:cNvPr id="9" name="Text 7"/>
          <p:cNvSpPr/>
          <p:nvPr/>
        </p:nvSpPr>
        <p:spPr>
          <a:xfrm>
            <a:off x="4663017" y="2755900"/>
            <a:ext cx="2951946"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A15C07"/>
                </a:solidFill>
                <a:latin typeface="Space Grotesk" pitchFamily="34" charset="0"/>
                <a:ea typeface="Space Grotesk" pitchFamily="34" charset="-122"/>
                <a:cs typeface="Space Grotesk" pitchFamily="34" charset="-120"/>
              </a:rPr>
              <a:t>10.7%</a:t>
            </a:r>
            <a:endParaRPr lang="en-US" sz="6000" dirty="0">
              <a:latin typeface="Space Grotesk" charset="0"/>
              <a:ea typeface="Space Grotesk" charset="0"/>
              <a:cs typeface="Space Grotesk" charset="0"/>
            </a:endParaRPr>
          </a:p>
        </p:txBody>
      </p:sp>
      <p:sp>
        <p:nvSpPr>
          <p:cNvPr id="10" name="Text 8"/>
          <p:cNvSpPr/>
          <p:nvPr/>
        </p:nvSpPr>
        <p:spPr>
          <a:xfrm>
            <a:off x="4663017" y="3619500"/>
            <a:ext cx="2951946"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badly late overall</a:t>
            </a:r>
            <a:endParaRPr lang="en-US" sz="1600" dirty="0">
              <a:latin typeface="IBM Plex Sans" charset="0"/>
              <a:ea typeface="IBM Plex Sans" charset="0"/>
              <a:cs typeface="IBM Plex Sans" charset="0"/>
            </a:endParaRPr>
          </a:p>
        </p:txBody>
      </p:sp>
      <p:sp>
        <p:nvSpPr>
          <p:cNvPr id="11" name="Text 9"/>
          <p:cNvSpPr/>
          <p:nvPr/>
        </p:nvSpPr>
        <p:spPr>
          <a:xfrm>
            <a:off x="4663017" y="4005580"/>
            <a:ext cx="295194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over 45 min late</a:t>
            </a:r>
            <a:endParaRPr lang="en-US" sz="1200" dirty="0">
              <a:latin typeface="IBM Plex Sans" charset="0"/>
              <a:ea typeface="IBM Plex Sans" charset="0"/>
              <a:cs typeface="IBM Plex Sans" charset="0"/>
            </a:endParaRPr>
          </a:p>
        </p:txBody>
      </p:sp>
      <p:sp>
        <p:nvSpPr>
          <p:cNvPr id="12" name="Shape 10"/>
          <p:cNvSpPr/>
          <p:nvPr/>
        </p:nvSpPr>
        <p:spPr>
          <a:xfrm>
            <a:off x="7995708" y="2498725"/>
            <a:ext cx="3380317" cy="1977390"/>
          </a:xfrm>
          <a:prstGeom prst="roundRect">
            <a:avLst>
              <a:gd name="adj" fmla="val 4978"/>
            </a:avLst>
          </a:prstGeom>
          <a:solidFill>
            <a:srgbClr val="FFFDF8"/>
          </a:solidFill>
          <a:ln w="6350">
            <a:solidFill>
              <a:srgbClr val="E2DED3"/>
            </a:solidFill>
            <a:prstDash val="solid"/>
          </a:ln>
        </p:spPr>
        <p:txBody>
          <a:bodyPr/>
          <a:lstStyle/>
          <a:p>
            <a:endParaRPr lang="en-SG"/>
          </a:p>
        </p:txBody>
      </p:sp>
      <p:sp>
        <p:nvSpPr>
          <p:cNvPr id="13" name="Text 11"/>
          <p:cNvSpPr/>
          <p:nvPr/>
        </p:nvSpPr>
        <p:spPr>
          <a:xfrm>
            <a:off x="8252883" y="2755900"/>
            <a:ext cx="2951946"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4213D"/>
                </a:solidFill>
                <a:latin typeface="Space Grotesk" pitchFamily="34" charset="0"/>
                <a:ea typeface="Space Grotesk" pitchFamily="34" charset="-122"/>
                <a:cs typeface="Space Grotesk" pitchFamily="34" charset="-120"/>
              </a:rPr>
              <a:t>45,264</a:t>
            </a:r>
            <a:endParaRPr lang="en-US" sz="6000" dirty="0">
              <a:latin typeface="Space Grotesk" charset="0"/>
              <a:ea typeface="Space Grotesk" charset="0"/>
              <a:cs typeface="Space Grotesk" charset="0"/>
            </a:endParaRPr>
          </a:p>
        </p:txBody>
      </p:sp>
      <p:sp>
        <p:nvSpPr>
          <p:cNvPr id="14" name="Text 12"/>
          <p:cNvSpPr/>
          <p:nvPr/>
        </p:nvSpPr>
        <p:spPr>
          <a:xfrm>
            <a:off x="8252883" y="3619500"/>
            <a:ext cx="2951946"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hours of airport weather</a:t>
            </a:r>
            <a:endParaRPr lang="en-US" sz="1600" dirty="0">
              <a:latin typeface="IBM Plex Sans" charset="0"/>
              <a:ea typeface="IBM Plex Sans" charset="0"/>
              <a:cs typeface="IBM Plex Sans" charset="0"/>
            </a:endParaRPr>
          </a:p>
        </p:txBody>
      </p:sp>
      <p:sp>
        <p:nvSpPr>
          <p:cNvPr id="15" name="Text 13"/>
          <p:cNvSpPr/>
          <p:nvPr/>
        </p:nvSpPr>
        <p:spPr>
          <a:xfrm>
            <a:off x="8252883" y="4005580"/>
            <a:ext cx="295194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2 airports × 22,632 h</a:t>
            </a:r>
            <a:endParaRPr lang="en-US" sz="1200" dirty="0">
              <a:latin typeface="IBM Plex Sans" charset="0"/>
              <a:ea typeface="IBM Plex Sans" charset="0"/>
              <a:cs typeface="IBM Plex Sans" charset="0"/>
            </a:endParaRPr>
          </a:p>
        </p:txBody>
      </p:sp>
      <p:sp>
        <p:nvSpPr>
          <p:cNvPr id="16" name="Text 14"/>
          <p:cNvSpPr/>
          <p:nvPr/>
        </p:nvSpPr>
        <p:spPr>
          <a:xfrm>
            <a:off x="812800" y="5344161"/>
            <a:ext cx="1088339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Flights: organiser file, Jan 2023 – Jul 2025. Weather: hourly at ATL/DFW from Meteostat / NOAA ISD, with wind direction. ATL↔DFW flights count once at each end.</a:t>
            </a:r>
            <a:endParaRPr lang="en-US" sz="1400" dirty="0">
              <a:latin typeface="IBM Plex Sans" charset="0"/>
              <a:ea typeface="IBM Plex Sans" charset="0"/>
              <a:cs typeface="IBM Plex Sans" charset="0"/>
            </a:endParaRPr>
          </a:p>
        </p:txBody>
      </p:sp>
      <p:sp>
        <p:nvSpPr>
          <p:cNvPr id="17" name="Text 15"/>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3 / 10</a:t>
            </a:r>
            <a:endParaRPr lang="en-US" sz="1200" dirty="0">
              <a:latin typeface="IBM Plex Sans" charset="0"/>
              <a:ea typeface="IBM Plex Sans" charset="0"/>
              <a:cs typeface="IBM Plex Sans"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A15C07"/>
                </a:solidFill>
                <a:latin typeface="IBM Plex Sans" pitchFamily="34" charset="0"/>
                <a:ea typeface="IBM Plex Sans" pitchFamily="34" charset="-122"/>
                <a:cs typeface="IBM Plex Sans" pitchFamily="34" charset="-120"/>
              </a:rPr>
              <a:t>METHOD</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How it works, in five steps</a:t>
            </a:r>
            <a:endParaRPr lang="en-US" sz="3600" dirty="0">
              <a:latin typeface="Space Grotesk" charset="0"/>
              <a:ea typeface="Space Grotesk" charset="0"/>
              <a:cs typeface="Space Grotesk" charset="0"/>
            </a:endParaRPr>
          </a:p>
        </p:txBody>
      </p:sp>
      <p:sp>
        <p:nvSpPr>
          <p:cNvPr id="4" name="Shape 2"/>
          <p:cNvSpPr/>
          <p:nvPr/>
        </p:nvSpPr>
        <p:spPr>
          <a:xfrm>
            <a:off x="815975" y="2625725"/>
            <a:ext cx="1700530" cy="819150"/>
          </a:xfrm>
          <a:prstGeom prst="roundRect">
            <a:avLst>
              <a:gd name="adj" fmla="val 12016"/>
            </a:avLst>
          </a:prstGeom>
          <a:solidFill>
            <a:srgbClr val="FFFDF8"/>
          </a:solidFill>
          <a:ln w="6350">
            <a:solidFill>
              <a:srgbClr val="E2DED3"/>
            </a:solidFill>
            <a:prstDash val="solid"/>
          </a:ln>
        </p:spPr>
        <p:txBody>
          <a:bodyPr/>
          <a:lstStyle/>
          <a:p>
            <a:endParaRPr lang="en-SG"/>
          </a:p>
        </p:txBody>
      </p:sp>
      <p:sp>
        <p:nvSpPr>
          <p:cNvPr id="5" name="Text 3"/>
          <p:cNvSpPr/>
          <p:nvPr/>
        </p:nvSpPr>
        <p:spPr>
          <a:xfrm>
            <a:off x="971550" y="2781300"/>
            <a:ext cx="144018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Flights</a:t>
            </a:r>
            <a:endParaRPr lang="en-US" sz="1600" dirty="0">
              <a:latin typeface="IBM Plex Sans" charset="0"/>
              <a:ea typeface="IBM Plex Sans" charset="0"/>
              <a:cs typeface="IBM Plex Sans" charset="0"/>
            </a:endParaRPr>
          </a:p>
        </p:txBody>
      </p:sp>
      <p:sp>
        <p:nvSpPr>
          <p:cNvPr id="6" name="Text 4"/>
          <p:cNvSpPr/>
          <p:nvPr/>
        </p:nvSpPr>
        <p:spPr>
          <a:xfrm>
            <a:off x="971550" y="3075939"/>
            <a:ext cx="14401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organiser file</a:t>
            </a:r>
            <a:endParaRPr lang="en-US" sz="1200" dirty="0">
              <a:latin typeface="IBM Plex Sans" charset="0"/>
              <a:ea typeface="IBM Plex Sans" charset="0"/>
              <a:cs typeface="IBM Plex Sans" charset="0"/>
            </a:endParaRPr>
          </a:p>
        </p:txBody>
      </p:sp>
      <p:pic>
        <p:nvPicPr>
          <p:cNvPr id="7" name="Image 0" descr="arrow-right"/>
          <p:cNvPicPr>
            <a:picLocks noChangeAspect="1"/>
          </p:cNvPicPr>
          <p:nvPr/>
        </p:nvPicPr>
        <p:blipFill>
          <a:blip r:embed="rId3"/>
          <a:srcRect/>
          <a:stretch/>
        </p:blipFill>
        <p:spPr>
          <a:xfrm>
            <a:off x="2621280" y="2959100"/>
            <a:ext cx="304800" cy="152400"/>
          </a:xfrm>
          <a:prstGeom prst="rect">
            <a:avLst/>
          </a:prstGeom>
        </p:spPr>
      </p:pic>
      <p:sp>
        <p:nvSpPr>
          <p:cNvPr id="8" name="Shape 5"/>
          <p:cNvSpPr/>
          <p:nvPr/>
        </p:nvSpPr>
        <p:spPr>
          <a:xfrm>
            <a:off x="3030855" y="2519045"/>
            <a:ext cx="1700530" cy="1032510"/>
          </a:xfrm>
          <a:prstGeom prst="roundRect">
            <a:avLst>
              <a:gd name="adj" fmla="val 9533"/>
            </a:avLst>
          </a:prstGeom>
          <a:solidFill>
            <a:srgbClr val="FFFDF8"/>
          </a:solidFill>
          <a:ln w="6350">
            <a:solidFill>
              <a:srgbClr val="E2DED3"/>
            </a:solidFill>
            <a:prstDash val="solid"/>
          </a:ln>
        </p:spPr>
        <p:txBody>
          <a:bodyPr/>
          <a:lstStyle/>
          <a:p>
            <a:endParaRPr lang="en-SG"/>
          </a:p>
        </p:txBody>
      </p:sp>
      <p:sp>
        <p:nvSpPr>
          <p:cNvPr id="9" name="Text 6"/>
          <p:cNvSpPr/>
          <p:nvPr/>
        </p:nvSpPr>
        <p:spPr>
          <a:xfrm>
            <a:off x="3186430" y="2674620"/>
            <a:ext cx="144018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Events</a:t>
            </a:r>
            <a:endParaRPr lang="en-US" sz="1600" dirty="0">
              <a:latin typeface="IBM Plex Sans" charset="0"/>
              <a:ea typeface="IBM Plex Sans" charset="0"/>
              <a:cs typeface="IBM Plex Sans" charset="0"/>
            </a:endParaRPr>
          </a:p>
        </p:txBody>
      </p:sp>
      <p:sp>
        <p:nvSpPr>
          <p:cNvPr id="10" name="Text 7"/>
          <p:cNvSpPr/>
          <p:nvPr/>
        </p:nvSpPr>
        <p:spPr>
          <a:xfrm>
            <a:off x="3186430" y="2969261"/>
            <a:ext cx="144018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each departure and arrival</a:t>
            </a:r>
            <a:endParaRPr lang="en-US" sz="1200" dirty="0">
              <a:latin typeface="IBM Plex Sans" charset="0"/>
              <a:ea typeface="IBM Plex Sans" charset="0"/>
              <a:cs typeface="IBM Plex Sans" charset="0"/>
            </a:endParaRPr>
          </a:p>
        </p:txBody>
      </p:sp>
      <p:pic>
        <p:nvPicPr>
          <p:cNvPr id="11" name="Image 1" descr="arrow-right"/>
          <p:cNvPicPr>
            <a:picLocks noChangeAspect="1"/>
          </p:cNvPicPr>
          <p:nvPr/>
        </p:nvPicPr>
        <p:blipFill>
          <a:blip r:embed="rId3"/>
          <a:srcRect/>
          <a:stretch/>
        </p:blipFill>
        <p:spPr>
          <a:xfrm>
            <a:off x="4836160" y="2959100"/>
            <a:ext cx="304800" cy="152400"/>
          </a:xfrm>
          <a:prstGeom prst="rect">
            <a:avLst/>
          </a:prstGeom>
        </p:spPr>
      </p:pic>
      <p:sp>
        <p:nvSpPr>
          <p:cNvPr id="12" name="Shape 8"/>
          <p:cNvSpPr/>
          <p:nvPr/>
        </p:nvSpPr>
        <p:spPr>
          <a:xfrm>
            <a:off x="5245735" y="2397125"/>
            <a:ext cx="1700530" cy="1276350"/>
          </a:xfrm>
          <a:prstGeom prst="roundRect">
            <a:avLst>
              <a:gd name="adj" fmla="val 7711"/>
            </a:avLst>
          </a:prstGeom>
          <a:solidFill>
            <a:srgbClr val="FFFDF8"/>
          </a:solidFill>
          <a:ln w="6350">
            <a:solidFill>
              <a:srgbClr val="E2DED3"/>
            </a:solidFill>
            <a:prstDash val="solid"/>
          </a:ln>
        </p:spPr>
        <p:txBody>
          <a:bodyPr/>
          <a:lstStyle/>
          <a:p>
            <a:endParaRPr lang="en-SG"/>
          </a:p>
        </p:txBody>
      </p:sp>
      <p:sp>
        <p:nvSpPr>
          <p:cNvPr id="13" name="Text 9"/>
          <p:cNvSpPr/>
          <p:nvPr/>
        </p:nvSpPr>
        <p:spPr>
          <a:xfrm>
            <a:off x="5401310" y="2552700"/>
            <a:ext cx="1440180"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Weather we could know</a:t>
            </a:r>
            <a:endParaRPr lang="en-US" sz="1600" dirty="0">
              <a:latin typeface="IBM Plex Sans" charset="0"/>
              <a:ea typeface="IBM Plex Sans" charset="0"/>
              <a:cs typeface="IBM Plex Sans" charset="0"/>
            </a:endParaRPr>
          </a:p>
        </p:txBody>
      </p:sp>
      <p:sp>
        <p:nvSpPr>
          <p:cNvPr id="14" name="Text 10"/>
          <p:cNvSpPr/>
          <p:nvPr/>
        </p:nvSpPr>
        <p:spPr>
          <a:xfrm>
            <a:off x="5401310" y="3091180"/>
            <a:ext cx="144018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observed ≥ h + 1 h before</a:t>
            </a:r>
            <a:endParaRPr lang="en-US" sz="1200" dirty="0">
              <a:latin typeface="IBM Plex Sans" charset="0"/>
              <a:ea typeface="IBM Plex Sans" charset="0"/>
              <a:cs typeface="IBM Plex Sans" charset="0"/>
            </a:endParaRPr>
          </a:p>
        </p:txBody>
      </p:sp>
      <p:pic>
        <p:nvPicPr>
          <p:cNvPr id="15" name="Image 2" descr="arrow-right"/>
          <p:cNvPicPr>
            <a:picLocks noChangeAspect="1"/>
          </p:cNvPicPr>
          <p:nvPr/>
        </p:nvPicPr>
        <p:blipFill>
          <a:blip r:embed="rId3"/>
          <a:srcRect/>
          <a:stretch/>
        </p:blipFill>
        <p:spPr>
          <a:xfrm>
            <a:off x="7051040" y="2959100"/>
            <a:ext cx="304800" cy="152400"/>
          </a:xfrm>
          <a:prstGeom prst="rect">
            <a:avLst/>
          </a:prstGeom>
        </p:spPr>
      </p:pic>
      <p:sp>
        <p:nvSpPr>
          <p:cNvPr id="16" name="Shape 11"/>
          <p:cNvSpPr/>
          <p:nvPr/>
        </p:nvSpPr>
        <p:spPr>
          <a:xfrm>
            <a:off x="7460615" y="2519045"/>
            <a:ext cx="1700530" cy="1032510"/>
          </a:xfrm>
          <a:prstGeom prst="roundRect">
            <a:avLst>
              <a:gd name="adj" fmla="val 9533"/>
            </a:avLst>
          </a:prstGeom>
          <a:solidFill>
            <a:srgbClr val="FFFDF8"/>
          </a:solidFill>
          <a:ln w="6350">
            <a:solidFill>
              <a:srgbClr val="E2DED3"/>
            </a:solidFill>
            <a:prstDash val="solid"/>
          </a:ln>
        </p:spPr>
        <p:txBody>
          <a:bodyPr/>
          <a:lstStyle/>
          <a:p>
            <a:endParaRPr lang="en-SG"/>
          </a:p>
        </p:txBody>
      </p:sp>
      <p:sp>
        <p:nvSpPr>
          <p:cNvPr id="17" name="Text 12"/>
          <p:cNvSpPr/>
          <p:nvPr/>
        </p:nvSpPr>
        <p:spPr>
          <a:xfrm>
            <a:off x="7616190" y="2674620"/>
            <a:ext cx="144018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LightGBM</a:t>
            </a:r>
            <a:endParaRPr lang="en-US" sz="1600" dirty="0">
              <a:latin typeface="IBM Plex Sans" charset="0"/>
              <a:ea typeface="IBM Plex Sans" charset="0"/>
              <a:cs typeface="IBM Plex Sans" charset="0"/>
            </a:endParaRPr>
          </a:p>
        </p:txBody>
      </p:sp>
      <p:sp>
        <p:nvSpPr>
          <p:cNvPr id="18" name="Text 13"/>
          <p:cNvSpPr/>
          <p:nvPr/>
        </p:nvSpPr>
        <p:spPr>
          <a:xfrm>
            <a:off x="7616190" y="2969261"/>
            <a:ext cx="144018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one model for every horizon</a:t>
            </a:r>
            <a:endParaRPr lang="en-US" sz="1200" dirty="0">
              <a:latin typeface="IBM Plex Sans" charset="0"/>
              <a:ea typeface="IBM Plex Sans" charset="0"/>
              <a:cs typeface="IBM Plex Sans" charset="0"/>
            </a:endParaRPr>
          </a:p>
        </p:txBody>
      </p:sp>
      <p:pic>
        <p:nvPicPr>
          <p:cNvPr id="19" name="Image 3" descr="arrow-right"/>
          <p:cNvPicPr>
            <a:picLocks noChangeAspect="1"/>
          </p:cNvPicPr>
          <p:nvPr/>
        </p:nvPicPr>
        <p:blipFill>
          <a:blip r:embed="rId3"/>
          <a:srcRect/>
          <a:stretch/>
        </p:blipFill>
        <p:spPr>
          <a:xfrm>
            <a:off x="9265920" y="2959100"/>
            <a:ext cx="304800" cy="152400"/>
          </a:xfrm>
          <a:prstGeom prst="rect">
            <a:avLst/>
          </a:prstGeom>
        </p:spPr>
      </p:pic>
      <p:sp>
        <p:nvSpPr>
          <p:cNvPr id="20" name="Shape 14"/>
          <p:cNvSpPr/>
          <p:nvPr/>
        </p:nvSpPr>
        <p:spPr>
          <a:xfrm>
            <a:off x="9675495" y="2519045"/>
            <a:ext cx="1700530" cy="1032510"/>
          </a:xfrm>
          <a:prstGeom prst="roundRect">
            <a:avLst>
              <a:gd name="adj" fmla="val 9533"/>
            </a:avLst>
          </a:prstGeom>
          <a:solidFill>
            <a:srgbClr val="14213D"/>
          </a:solidFill>
          <a:ln w="6350">
            <a:solidFill>
              <a:srgbClr val="14213D"/>
            </a:solidFill>
            <a:prstDash val="solid"/>
          </a:ln>
        </p:spPr>
        <p:txBody>
          <a:bodyPr/>
          <a:lstStyle/>
          <a:p>
            <a:endParaRPr lang="en-SG"/>
          </a:p>
        </p:txBody>
      </p:sp>
      <p:sp>
        <p:nvSpPr>
          <p:cNvPr id="21" name="Text 15"/>
          <p:cNvSpPr/>
          <p:nvPr/>
        </p:nvSpPr>
        <p:spPr>
          <a:xfrm>
            <a:off x="9831070" y="2674620"/>
            <a:ext cx="144018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5F0"/>
                </a:solidFill>
                <a:latin typeface="IBM Plex Sans" pitchFamily="34" charset="0"/>
                <a:ea typeface="IBM Plex Sans" pitchFamily="34" charset="-122"/>
                <a:cs typeface="IBM Plex Sans" pitchFamily="34" charset="-120"/>
              </a:rPr>
              <a:t>Dashboard</a:t>
            </a:r>
            <a:endParaRPr lang="en-US" sz="1600" dirty="0">
              <a:latin typeface="IBM Plex Sans" charset="0"/>
              <a:ea typeface="IBM Plex Sans" charset="0"/>
              <a:cs typeface="IBM Plex Sans" charset="0"/>
            </a:endParaRPr>
          </a:p>
        </p:txBody>
      </p:sp>
      <p:sp>
        <p:nvSpPr>
          <p:cNvPr id="22" name="Text 16"/>
          <p:cNvSpPr/>
          <p:nvPr/>
        </p:nvSpPr>
        <p:spPr>
          <a:xfrm>
            <a:off x="9831070" y="2969261"/>
            <a:ext cx="144018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CDD"/>
                </a:solidFill>
                <a:latin typeface="IBM Plex Sans" pitchFamily="34" charset="0"/>
                <a:ea typeface="IBM Plex Sans" pitchFamily="34" charset="-122"/>
                <a:cs typeface="IBM Plex Sans" pitchFamily="34" charset="-120"/>
              </a:rPr>
              <a:t>risk, reasons, “Consider…” advice</a:t>
            </a:r>
            <a:endParaRPr lang="en-US" sz="1200" dirty="0">
              <a:latin typeface="IBM Plex Sans" charset="0"/>
              <a:ea typeface="IBM Plex Sans" charset="0"/>
              <a:cs typeface="IBM Plex Sans" charset="0"/>
            </a:endParaRPr>
          </a:p>
        </p:txBody>
      </p:sp>
      <p:sp>
        <p:nvSpPr>
          <p:cNvPr id="23" name="Text 17"/>
          <p:cNvSpPr/>
          <p:nvPr/>
        </p:nvSpPr>
        <p:spPr>
          <a:xfrm>
            <a:off x="812800" y="4439920"/>
            <a:ext cx="10883392"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5568"/>
                </a:solidFill>
                <a:latin typeface="IBM Plex Sans" pitchFamily="34" charset="0"/>
                <a:ea typeface="IBM Plex Sans" pitchFamily="34" charset="-122"/>
                <a:cs typeface="IBM Plex Sans" pitchFamily="34" charset="-120"/>
              </a:rPr>
              <a:t>Inputs:</a:t>
            </a:r>
            <a:r>
              <a:rPr lang="en-US" sz="1400" dirty="0">
                <a:solidFill>
                  <a:srgbClr val="4A5568"/>
                </a:solidFill>
                <a:latin typeface="IBM Plex Sans" pitchFamily="34" charset="0"/>
                <a:ea typeface="IBM Plex Sans" pitchFamily="34" charset="-122"/>
                <a:cs typeface="IBM Plex Sans" pitchFamily="34" charset="-120"/>
              </a:rPr>
              <a:t> temperature, rain, wind, pressure, weather code, headwind / crosswind / tailwind on runway 080° (ATL) and 180° (DFW), storm flags, 1–6 h trends, time of day, airline.</a:t>
            </a:r>
            <a:endParaRPr lang="en-US" sz="1400" dirty="0">
              <a:latin typeface="IBM Plex Sans" charset="0"/>
              <a:ea typeface="IBM Plex Sans" charset="0"/>
              <a:cs typeface="IBM Plex Sans" charset="0"/>
            </a:endParaRPr>
          </a:p>
        </p:txBody>
      </p:sp>
      <p:sp>
        <p:nvSpPr>
          <p:cNvPr id="24" name="Text 18"/>
          <p:cNvSpPr/>
          <p:nvPr/>
        </p:nvSpPr>
        <p:spPr>
          <a:xfrm>
            <a:off x="812800" y="5039361"/>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5568"/>
                </a:solidFill>
                <a:latin typeface="IBM Plex Sans" pitchFamily="34" charset="0"/>
                <a:ea typeface="IBM Plex Sans" pitchFamily="34" charset="-122"/>
                <a:cs typeface="IBM Plex Sans" pitchFamily="34" charset="-120"/>
              </a:rPr>
              <a:t>Split by time:</a:t>
            </a:r>
            <a:r>
              <a:rPr lang="en-US" sz="1400" dirty="0">
                <a:solidFill>
                  <a:srgbClr val="4A5568"/>
                </a:solidFill>
                <a:latin typeface="IBM Plex Sans" pitchFamily="34" charset="0"/>
                <a:ea typeface="IBM Plex Sans" pitchFamily="34" charset="-122"/>
                <a:cs typeface="IBM Plex Sans" pitchFamily="34" charset="-120"/>
              </a:rPr>
              <a:t> train Jan 2023 – Jun 2024 · tune Jul – Dec 2024 · test Jan – Jul 2025, never seen.</a:t>
            </a:r>
            <a:endParaRPr lang="en-US" sz="1400" dirty="0">
              <a:latin typeface="IBM Plex Sans" charset="0"/>
              <a:ea typeface="IBM Plex Sans" charset="0"/>
              <a:cs typeface="IBM Plex Sans" charset="0"/>
            </a:endParaRPr>
          </a:p>
        </p:txBody>
      </p:sp>
      <p:sp>
        <p:nvSpPr>
          <p:cNvPr id="25" name="Text 19"/>
          <p:cNvSpPr/>
          <p:nvPr/>
        </p:nvSpPr>
        <p:spPr>
          <a:xfrm>
            <a:off x="812800" y="5389880"/>
            <a:ext cx="10566400" cy="452120"/>
          </a:xfrm>
          <a:prstGeom prst="roundRect">
            <a:avLst>
              <a:gd name="adj" fmla="val 16854"/>
            </a:avLst>
          </a:prstGeom>
          <a:solidFill>
            <a:srgbClr val="F3E3C7"/>
          </a:solidFill>
          <a:ln/>
        </p:spPr>
        <p:txBody>
          <a:bodyPr wrap="square" lIns="130082" tIns="79282" rIns="0" bIns="53882"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No LLM at runtime.</a:t>
            </a:r>
            <a:r>
              <a:rPr lang="en-US" sz="1400" dirty="0">
                <a:solidFill>
                  <a:srgbClr val="14213D"/>
                </a:solidFill>
                <a:latin typeface="IBM Plex Sans" pitchFamily="34" charset="0"/>
                <a:ea typeface="IBM Plex Sans" pitchFamily="34" charset="-122"/>
                <a:cs typeface="IBM Plex Sans" pitchFamily="34" charset="-120"/>
              </a:rPr>
              <a:t> Risk = LightGBM · reasons = its feature contributions · recommendations = explicit rules.</a:t>
            </a:r>
            <a:endParaRPr lang="en-US" sz="1400" dirty="0">
              <a:latin typeface="IBM Plex Sans" charset="0"/>
              <a:ea typeface="IBM Plex Sans" charset="0"/>
              <a:cs typeface="IBM Plex Sans" charset="0"/>
            </a:endParaRPr>
          </a:p>
        </p:txBody>
      </p:sp>
      <p:sp>
        <p:nvSpPr>
          <p:cNvPr id="26" name="Text 20"/>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4 / 10</a:t>
            </a:r>
            <a:endParaRPr lang="en-US" sz="1200" dirty="0">
              <a:latin typeface="IBM Plex Sans" charset="0"/>
              <a:ea typeface="IBM Plex Sans" charset="0"/>
              <a:cs typeface="IBM Plex Sans"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E8A33D"/>
                </a:solidFill>
                <a:latin typeface="IBM Plex Sans" pitchFamily="34" charset="0"/>
                <a:ea typeface="IBM Plex Sans" pitchFamily="34" charset="-122"/>
                <a:cs typeface="IBM Plex Sans" pitchFamily="34" charset="-120"/>
              </a:rPr>
              <a:t>NO CHEATING</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7F5F0"/>
                </a:solidFill>
                <a:latin typeface="Space Grotesk" pitchFamily="34" charset="0"/>
                <a:ea typeface="Space Grotesk" pitchFamily="34" charset="-122"/>
                <a:cs typeface="Space Grotesk" pitchFamily="34" charset="-120"/>
              </a:rPr>
              <a:t>We never peek at future weather</a:t>
            </a:r>
            <a:endParaRPr lang="en-US" sz="3600" dirty="0">
              <a:latin typeface="Space Grotesk" charset="0"/>
              <a:ea typeface="Space Grotesk" charset="0"/>
              <a:cs typeface="Space Grotesk" charset="0"/>
            </a:endParaRPr>
          </a:p>
        </p:txBody>
      </p:sp>
      <p:sp>
        <p:nvSpPr>
          <p:cNvPr id="4" name="Shape 2"/>
          <p:cNvSpPr/>
          <p:nvPr/>
        </p:nvSpPr>
        <p:spPr>
          <a:xfrm>
            <a:off x="812800" y="2707745"/>
            <a:ext cx="3039533" cy="1198880"/>
          </a:xfrm>
          <a:prstGeom prst="roundRect">
            <a:avLst>
              <a:gd name="adj" fmla="val 8475"/>
            </a:avLst>
          </a:prstGeom>
          <a:solidFill>
            <a:srgbClr val="E8A33D"/>
          </a:solidFill>
          <a:ln/>
        </p:spPr>
        <p:txBody>
          <a:bodyPr/>
          <a:lstStyle/>
          <a:p>
            <a:endParaRPr lang="en-SG"/>
          </a:p>
        </p:txBody>
      </p:sp>
      <p:sp>
        <p:nvSpPr>
          <p:cNvPr id="5" name="Text 3"/>
          <p:cNvSpPr/>
          <p:nvPr/>
        </p:nvSpPr>
        <p:spPr>
          <a:xfrm>
            <a:off x="1016000" y="2910945"/>
            <a:ext cx="271212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Weather we use</a:t>
            </a:r>
            <a:endParaRPr lang="en-US" sz="1600" dirty="0">
              <a:latin typeface="IBM Plex Sans" charset="0"/>
              <a:ea typeface="IBM Plex Sans" charset="0"/>
              <a:cs typeface="IBM Plex Sans" charset="0"/>
            </a:endParaRPr>
          </a:p>
        </p:txBody>
      </p:sp>
      <p:sp>
        <p:nvSpPr>
          <p:cNvPr id="6" name="Text 4"/>
          <p:cNvSpPr/>
          <p:nvPr/>
        </p:nvSpPr>
        <p:spPr>
          <a:xfrm>
            <a:off x="1016000" y="3205587"/>
            <a:ext cx="271212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IBM Plex Sans" pitchFamily="34" charset="0"/>
                <a:ea typeface="IBM Plex Sans" pitchFamily="34" charset="-122"/>
                <a:cs typeface="IBM Plex Sans" pitchFamily="34" charset="-120"/>
              </a:rPr>
              <a:t>observed at least h + 1 hours before the flight</a:t>
            </a:r>
            <a:endParaRPr lang="en-US" sz="1400" dirty="0">
              <a:latin typeface="IBM Plex Sans" charset="0"/>
              <a:ea typeface="IBM Plex Sans" charset="0"/>
              <a:cs typeface="IBM Plex Sans" charset="0"/>
            </a:endParaRPr>
          </a:p>
        </p:txBody>
      </p:sp>
      <p:pic>
        <p:nvPicPr>
          <p:cNvPr id="7" name="Image 0" descr="arrow-right"/>
          <p:cNvPicPr>
            <a:picLocks noChangeAspect="1"/>
          </p:cNvPicPr>
          <p:nvPr/>
        </p:nvPicPr>
        <p:blipFill>
          <a:blip r:embed="rId3"/>
          <a:srcRect/>
          <a:stretch/>
        </p:blipFill>
        <p:spPr>
          <a:xfrm>
            <a:off x="4004733" y="3205587"/>
            <a:ext cx="406400" cy="203200"/>
          </a:xfrm>
          <a:prstGeom prst="rect">
            <a:avLst/>
          </a:prstGeom>
        </p:spPr>
      </p:pic>
      <p:sp>
        <p:nvSpPr>
          <p:cNvPr id="8" name="Shape 5"/>
          <p:cNvSpPr/>
          <p:nvPr/>
        </p:nvSpPr>
        <p:spPr>
          <a:xfrm>
            <a:off x="4566708" y="2829030"/>
            <a:ext cx="3045883" cy="956310"/>
          </a:xfrm>
          <a:prstGeom prst="roundRect">
            <a:avLst>
              <a:gd name="adj" fmla="val 10292"/>
            </a:avLst>
          </a:prstGeom>
          <a:solidFill>
            <a:srgbClr val="1E2D4F"/>
          </a:solidFill>
          <a:ln w="6350">
            <a:solidFill>
              <a:srgbClr val="2E4068"/>
            </a:solidFill>
            <a:prstDash val="solid"/>
          </a:ln>
        </p:spPr>
        <p:txBody>
          <a:bodyPr/>
          <a:lstStyle/>
          <a:p>
            <a:endParaRPr lang="en-SG"/>
          </a:p>
        </p:txBody>
      </p:sp>
      <p:sp>
        <p:nvSpPr>
          <p:cNvPr id="9" name="Text 6"/>
          <p:cNvSpPr/>
          <p:nvPr/>
        </p:nvSpPr>
        <p:spPr>
          <a:xfrm>
            <a:off x="4773083" y="3035405"/>
            <a:ext cx="271212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5F0"/>
                </a:solidFill>
                <a:latin typeface="IBM Plex Sans" pitchFamily="34" charset="0"/>
                <a:ea typeface="IBM Plex Sans" pitchFamily="34" charset="-122"/>
                <a:cs typeface="IBM Plex Sans" pitchFamily="34" charset="-120"/>
              </a:rPr>
              <a:t>Warning issued</a:t>
            </a:r>
            <a:endParaRPr lang="en-US" sz="1600" dirty="0">
              <a:latin typeface="IBM Plex Sans" charset="0"/>
              <a:ea typeface="IBM Plex Sans" charset="0"/>
              <a:cs typeface="IBM Plex Sans" charset="0"/>
            </a:endParaRPr>
          </a:p>
        </p:txBody>
      </p:sp>
      <p:sp>
        <p:nvSpPr>
          <p:cNvPr id="10" name="Text 7"/>
          <p:cNvSpPr/>
          <p:nvPr/>
        </p:nvSpPr>
        <p:spPr>
          <a:xfrm>
            <a:off x="4773083" y="3330045"/>
            <a:ext cx="271212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CDD"/>
                </a:solidFill>
                <a:latin typeface="IBM Plex Sans" pitchFamily="34" charset="0"/>
                <a:ea typeface="IBM Plex Sans" pitchFamily="34" charset="-122"/>
                <a:cs typeface="IBM Plex Sans" pitchFamily="34" charset="-120"/>
              </a:rPr>
              <a:t>h = 3, 6, 9 or 12 hours before</a:t>
            </a:r>
            <a:endParaRPr lang="en-US" sz="1400" dirty="0">
              <a:latin typeface="IBM Plex Sans" charset="0"/>
              <a:ea typeface="IBM Plex Sans" charset="0"/>
              <a:cs typeface="IBM Plex Sans" charset="0"/>
            </a:endParaRPr>
          </a:p>
        </p:txBody>
      </p:sp>
      <p:pic>
        <p:nvPicPr>
          <p:cNvPr id="11" name="Image 1" descr="arrow-right"/>
          <p:cNvPicPr>
            <a:picLocks noChangeAspect="1"/>
          </p:cNvPicPr>
          <p:nvPr/>
        </p:nvPicPr>
        <p:blipFill>
          <a:blip r:embed="rId3"/>
          <a:srcRect/>
          <a:stretch/>
        </p:blipFill>
        <p:spPr>
          <a:xfrm>
            <a:off x="7768167" y="3205587"/>
            <a:ext cx="406400" cy="203200"/>
          </a:xfrm>
          <a:prstGeom prst="rect">
            <a:avLst/>
          </a:prstGeom>
        </p:spPr>
      </p:pic>
      <p:sp>
        <p:nvSpPr>
          <p:cNvPr id="12" name="Shape 8"/>
          <p:cNvSpPr/>
          <p:nvPr/>
        </p:nvSpPr>
        <p:spPr>
          <a:xfrm>
            <a:off x="8330142" y="2829030"/>
            <a:ext cx="3045883" cy="956310"/>
          </a:xfrm>
          <a:prstGeom prst="roundRect">
            <a:avLst>
              <a:gd name="adj" fmla="val 10292"/>
            </a:avLst>
          </a:prstGeom>
          <a:solidFill>
            <a:srgbClr val="1E2D4F"/>
          </a:solidFill>
          <a:ln w="6350">
            <a:solidFill>
              <a:srgbClr val="2E4068"/>
            </a:solidFill>
            <a:prstDash val="solid"/>
          </a:ln>
        </p:spPr>
        <p:txBody>
          <a:bodyPr/>
          <a:lstStyle/>
          <a:p>
            <a:endParaRPr lang="en-SG"/>
          </a:p>
        </p:txBody>
      </p:sp>
      <p:sp>
        <p:nvSpPr>
          <p:cNvPr id="13" name="Text 9"/>
          <p:cNvSpPr/>
          <p:nvPr/>
        </p:nvSpPr>
        <p:spPr>
          <a:xfrm>
            <a:off x="8536517" y="3035405"/>
            <a:ext cx="271212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5F0"/>
                </a:solidFill>
                <a:latin typeface="IBM Plex Sans" pitchFamily="34" charset="0"/>
                <a:ea typeface="IBM Plex Sans" pitchFamily="34" charset="-122"/>
                <a:cs typeface="IBM Plex Sans" pitchFamily="34" charset="-120"/>
              </a:rPr>
              <a:t>Flight</a:t>
            </a:r>
            <a:endParaRPr lang="en-US" sz="1600" dirty="0">
              <a:latin typeface="IBM Plex Sans" charset="0"/>
              <a:ea typeface="IBM Plex Sans" charset="0"/>
              <a:cs typeface="IBM Plex Sans" charset="0"/>
            </a:endParaRPr>
          </a:p>
        </p:txBody>
      </p:sp>
      <p:sp>
        <p:nvSpPr>
          <p:cNvPr id="14" name="Text 10"/>
          <p:cNvSpPr/>
          <p:nvPr/>
        </p:nvSpPr>
        <p:spPr>
          <a:xfrm>
            <a:off x="8536517" y="3330045"/>
            <a:ext cx="271212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CDD"/>
                </a:solidFill>
                <a:latin typeface="IBM Plex Sans" pitchFamily="34" charset="0"/>
                <a:ea typeface="IBM Plex Sans" pitchFamily="34" charset="-122"/>
                <a:cs typeface="IBM Plex Sans" pitchFamily="34" charset="-120"/>
              </a:rPr>
              <a:t>scheduled time</a:t>
            </a:r>
            <a:endParaRPr lang="en-US" sz="1400" dirty="0">
              <a:latin typeface="IBM Plex Sans" charset="0"/>
              <a:ea typeface="IBM Plex Sans" charset="0"/>
              <a:cs typeface="IBM Plex Sans" charset="0"/>
            </a:endParaRPr>
          </a:p>
        </p:txBody>
      </p:sp>
      <p:sp>
        <p:nvSpPr>
          <p:cNvPr id="15" name="Text 11"/>
          <p:cNvSpPr/>
          <p:nvPr/>
        </p:nvSpPr>
        <p:spPr>
          <a:xfrm>
            <a:off x="870458" y="4983798"/>
            <a:ext cx="10818114" cy="883602"/>
          </a:xfrm>
          <a:prstGeom prst="rect">
            <a:avLst/>
          </a:prstGeom>
          <a:noFill/>
          <a:ln/>
        </p:spPr>
        <p:txBody>
          <a:bodyPr wrap="square" lIns="0" tIns="0" rIns="0" bIns="0" rtlCol="0" anchor="t">
            <a:normAutofit/>
          </a:bodyPr>
          <a:lstStyle/>
          <a:p>
            <a:pPr marL="196342" indent="-196342" algn="l">
              <a:lnSpc>
                <a:spcPts val="2240"/>
              </a:lnSpc>
              <a:buSzPct val="100000"/>
              <a:buChar char="•"/>
            </a:pPr>
            <a:r>
              <a:rPr lang="en-US" sz="1600" dirty="0">
                <a:solidFill>
                  <a:srgbClr val="F7F5F0"/>
                </a:solidFill>
                <a:latin typeface="IBM Plex Sans" pitchFamily="34" charset="0"/>
                <a:ea typeface="IBM Plex Sans" pitchFamily="34" charset="-122"/>
                <a:cs typeface="IBM Plex Sans" pitchFamily="34" charset="-120"/>
              </a:rPr>
              <a:t>+1 h buffer:</a:t>
            </a:r>
            <a:r>
              <a:rPr lang="en-US" sz="1600" dirty="0">
                <a:solidFill>
                  <a:srgbClr val="BFCCDD"/>
                </a:solidFill>
                <a:latin typeface="IBM Plex Sans" pitchFamily="34" charset="0"/>
                <a:ea typeface="IBM Plex Sans" pitchFamily="34" charset="-122"/>
                <a:cs typeface="IBM Plex Sans" pitchFamily="34" charset="-120"/>
              </a:rPr>
              <a:t> a weather report can be stamped up to 52 min before it was observed.</a:t>
            </a:r>
            <a:endParaRPr lang="en-US" sz="1600" dirty="0">
              <a:latin typeface="IBM Plex Sans" charset="0"/>
              <a:ea typeface="IBM Plex Sans" charset="0"/>
              <a:cs typeface="IBM Plex Sans" charset="0"/>
            </a:endParaRPr>
          </a:p>
          <a:p>
            <a:pPr marL="196342" indent="-196342" algn="l">
              <a:lnSpc>
                <a:spcPts val="2240"/>
              </a:lnSpc>
              <a:buSzPct val="100000"/>
              <a:buChar char="•"/>
            </a:pPr>
            <a:r>
              <a:rPr lang="en-US" sz="1600" dirty="0">
                <a:solidFill>
                  <a:srgbClr val="F7F5F0"/>
                </a:solidFill>
                <a:latin typeface="IBM Plex Sans" pitchFamily="34" charset="0"/>
                <a:ea typeface="IBM Plex Sans" pitchFamily="34" charset="-122"/>
                <a:cs typeface="IBM Plex Sans" pitchFamily="34" charset="-120"/>
              </a:rPr>
              <a:t>The flight file’s own weather was 4–6 h off,</a:t>
            </a:r>
            <a:r>
              <a:rPr lang="en-US" sz="1600" dirty="0">
                <a:solidFill>
                  <a:srgbClr val="BFCCDD"/>
                </a:solidFill>
                <a:latin typeface="IBM Plex Sans" pitchFamily="34" charset="0"/>
                <a:ea typeface="IBM Plex Sans" pitchFamily="34" charset="-122"/>
                <a:cs typeface="IBM Plex Sans" pitchFamily="34" charset="-120"/>
              </a:rPr>
              <a:t> so it is never used as an input.</a:t>
            </a:r>
            <a:endParaRPr lang="en-US" sz="1600" dirty="0">
              <a:latin typeface="IBM Plex Sans" charset="0"/>
              <a:ea typeface="IBM Plex Sans" charset="0"/>
              <a:cs typeface="IBM Plex Sans" charset="0"/>
            </a:endParaRPr>
          </a:p>
          <a:p>
            <a:pPr marL="196342" indent="-196342" algn="l">
              <a:lnSpc>
                <a:spcPts val="2240"/>
              </a:lnSpc>
              <a:buSzPct val="100000"/>
              <a:buChar char="•"/>
            </a:pPr>
            <a:r>
              <a:rPr lang="en-US" sz="1600" dirty="0">
                <a:solidFill>
                  <a:srgbClr val="F7F5F0"/>
                </a:solidFill>
                <a:latin typeface="IBM Plex Sans" pitchFamily="34" charset="0"/>
                <a:ea typeface="IBM Plex Sans" pitchFamily="34" charset="-122"/>
                <a:cs typeface="IBM Plex Sans" pitchFamily="34" charset="-120"/>
              </a:rPr>
              <a:t>An automatic leakage test</a:t>
            </a:r>
            <a:r>
              <a:rPr lang="en-US" sz="1600" dirty="0">
                <a:solidFill>
                  <a:srgbClr val="BFCCDD"/>
                </a:solidFill>
                <a:latin typeface="IBM Plex Sans" pitchFamily="34" charset="0"/>
                <a:ea typeface="IBM Plex Sans" pitchFamily="34" charset="-122"/>
                <a:cs typeface="IBM Plex Sans" pitchFamily="34" charset="-120"/>
              </a:rPr>
              <a:t> checks every row.</a:t>
            </a:r>
            <a:endParaRPr lang="en-US" sz="1600" dirty="0">
              <a:latin typeface="IBM Plex Sans" charset="0"/>
              <a:ea typeface="IBM Plex Sans" charset="0"/>
              <a:cs typeface="IBM Plex Sans" charset="0"/>
            </a:endParaRPr>
          </a:p>
        </p:txBody>
      </p:sp>
      <p:sp>
        <p:nvSpPr>
          <p:cNvPr id="16" name="Text 12"/>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0BA"/>
                </a:solidFill>
                <a:latin typeface="IBM Plex Sans" pitchFamily="34" charset="0"/>
                <a:ea typeface="IBM Plex Sans" pitchFamily="34" charset="-122"/>
                <a:cs typeface="IBM Plex Sans" pitchFamily="34" charset="-120"/>
              </a:rPr>
              <a:t>5 / 10</a:t>
            </a:r>
            <a:endParaRPr lang="en-US" sz="1200" dirty="0">
              <a:latin typeface="IBM Plex Sans" charset="0"/>
              <a:ea typeface="IBM Plex Sans" charset="0"/>
              <a:cs typeface="IBM Plex Sans"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A15C07"/>
                </a:solidFill>
                <a:latin typeface="IBM Plex Sans" pitchFamily="34" charset="0"/>
                <a:ea typeface="IBM Plex Sans" pitchFamily="34" charset="-122"/>
                <a:cs typeface="IBM Plex Sans" pitchFamily="34" charset="-120"/>
              </a:rPr>
              <a:t>DEMO</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What the coordinator sees</a:t>
            </a:r>
            <a:endParaRPr lang="en-US" sz="3600" dirty="0">
              <a:latin typeface="Space Grotesk" charset="0"/>
              <a:ea typeface="Space Grotesk" charset="0"/>
              <a:cs typeface="Space Grotesk" charset="0"/>
            </a:endParaRPr>
          </a:p>
        </p:txBody>
      </p:sp>
      <p:sp>
        <p:nvSpPr>
          <p:cNvPr id="5" name="Shape 3"/>
          <p:cNvSpPr/>
          <p:nvPr/>
        </p:nvSpPr>
        <p:spPr>
          <a:xfrm>
            <a:off x="7216775" y="1887854"/>
            <a:ext cx="4159250" cy="1083310"/>
          </a:xfrm>
          <a:prstGeom prst="roundRect">
            <a:avLst>
              <a:gd name="adj" fmla="val 9086"/>
            </a:avLst>
          </a:prstGeom>
          <a:solidFill>
            <a:srgbClr val="FFFDF8"/>
          </a:solidFill>
          <a:ln w="6350">
            <a:solidFill>
              <a:srgbClr val="E2DED3"/>
            </a:solidFill>
            <a:prstDash val="solid"/>
          </a:ln>
        </p:spPr>
        <p:txBody>
          <a:bodyPr/>
          <a:lstStyle/>
          <a:p>
            <a:endParaRPr lang="en-SG"/>
          </a:p>
        </p:txBody>
      </p:sp>
      <p:sp>
        <p:nvSpPr>
          <p:cNvPr id="6" name="Text 4"/>
          <p:cNvSpPr/>
          <p:nvPr/>
        </p:nvSpPr>
        <p:spPr>
          <a:xfrm>
            <a:off x="7397750" y="2068829"/>
            <a:ext cx="391121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Risk board</a:t>
            </a:r>
            <a:endParaRPr lang="en-US" sz="1600" dirty="0">
              <a:latin typeface="IBM Plex Sans" charset="0"/>
              <a:ea typeface="IBM Plex Sans" charset="0"/>
              <a:cs typeface="IBM Plex Sans" charset="0"/>
            </a:endParaRPr>
          </a:p>
        </p:txBody>
      </p:sp>
      <p:sp>
        <p:nvSpPr>
          <p:cNvPr id="7" name="Text 5"/>
          <p:cNvSpPr/>
          <p:nvPr/>
        </p:nvSpPr>
        <p:spPr>
          <a:xfrm>
            <a:off x="7397750" y="2363471"/>
            <a:ext cx="3911219"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“Consider…” advice showing the rule, the weather and its timestamp</a:t>
            </a:r>
            <a:endParaRPr lang="en-US" sz="1200" dirty="0">
              <a:latin typeface="IBM Plex Sans" charset="0"/>
              <a:ea typeface="IBM Plex Sans" charset="0"/>
              <a:cs typeface="IBM Plex Sans" charset="0"/>
            </a:endParaRPr>
          </a:p>
        </p:txBody>
      </p:sp>
      <p:sp>
        <p:nvSpPr>
          <p:cNvPr id="8" name="Shape 6"/>
          <p:cNvSpPr/>
          <p:nvPr/>
        </p:nvSpPr>
        <p:spPr>
          <a:xfrm>
            <a:off x="7216775" y="3129914"/>
            <a:ext cx="4159250" cy="869950"/>
          </a:xfrm>
          <a:prstGeom prst="roundRect">
            <a:avLst>
              <a:gd name="adj" fmla="val 11314"/>
            </a:avLst>
          </a:prstGeom>
          <a:solidFill>
            <a:srgbClr val="FFFDF8"/>
          </a:solidFill>
          <a:ln w="6350">
            <a:solidFill>
              <a:srgbClr val="E2DED3"/>
            </a:solidFill>
            <a:prstDash val="solid"/>
          </a:ln>
        </p:spPr>
        <p:txBody>
          <a:bodyPr/>
          <a:lstStyle/>
          <a:p>
            <a:endParaRPr lang="en-SG"/>
          </a:p>
        </p:txBody>
      </p:sp>
      <p:sp>
        <p:nvSpPr>
          <p:cNvPr id="9" name="Text 7"/>
          <p:cNvSpPr/>
          <p:nvPr/>
        </p:nvSpPr>
        <p:spPr>
          <a:xfrm>
            <a:off x="7397750" y="3310889"/>
            <a:ext cx="391121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Flight table</a:t>
            </a:r>
            <a:endParaRPr lang="en-US" sz="1600" dirty="0">
              <a:latin typeface="IBM Plex Sans" charset="0"/>
              <a:ea typeface="IBM Plex Sans" charset="0"/>
              <a:cs typeface="IBM Plex Sans" charset="0"/>
            </a:endParaRPr>
          </a:p>
        </p:txBody>
      </p:sp>
      <p:sp>
        <p:nvSpPr>
          <p:cNvPr id="10" name="Text 8"/>
          <p:cNvSpPr/>
          <p:nvPr/>
        </p:nvSpPr>
        <p:spPr>
          <a:xfrm>
            <a:off x="7397750" y="3605529"/>
            <a:ext cx="391121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risk, “similar flights were late X%”, and the reasons</a:t>
            </a:r>
            <a:endParaRPr lang="en-US" sz="1200" dirty="0">
              <a:latin typeface="IBM Plex Sans" charset="0"/>
              <a:ea typeface="IBM Plex Sans" charset="0"/>
              <a:cs typeface="IBM Plex Sans" charset="0"/>
            </a:endParaRPr>
          </a:p>
        </p:txBody>
      </p:sp>
      <p:sp>
        <p:nvSpPr>
          <p:cNvPr id="11" name="Shape 9"/>
          <p:cNvSpPr/>
          <p:nvPr/>
        </p:nvSpPr>
        <p:spPr>
          <a:xfrm>
            <a:off x="7216775" y="4158614"/>
            <a:ext cx="4159250" cy="869950"/>
          </a:xfrm>
          <a:prstGeom prst="roundRect">
            <a:avLst>
              <a:gd name="adj" fmla="val 11314"/>
            </a:avLst>
          </a:prstGeom>
          <a:solidFill>
            <a:srgbClr val="FFFDF8"/>
          </a:solidFill>
          <a:ln w="6350">
            <a:solidFill>
              <a:srgbClr val="E2DED3"/>
            </a:solidFill>
            <a:prstDash val="solid"/>
          </a:ln>
        </p:spPr>
        <p:txBody>
          <a:bodyPr/>
          <a:lstStyle/>
          <a:p>
            <a:endParaRPr lang="en-SG"/>
          </a:p>
        </p:txBody>
      </p:sp>
      <p:sp>
        <p:nvSpPr>
          <p:cNvPr id="12" name="Text 10"/>
          <p:cNvSpPr/>
          <p:nvPr/>
        </p:nvSpPr>
        <p:spPr>
          <a:xfrm>
            <a:off x="7397750" y="4339589"/>
            <a:ext cx="391121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Decision log</a:t>
            </a:r>
            <a:endParaRPr lang="en-US" sz="1600" dirty="0">
              <a:latin typeface="IBM Plex Sans" charset="0"/>
              <a:ea typeface="IBM Plex Sans" charset="0"/>
              <a:cs typeface="IBM Plex Sans" charset="0"/>
            </a:endParaRPr>
          </a:p>
        </p:txBody>
      </p:sp>
      <p:sp>
        <p:nvSpPr>
          <p:cNvPr id="13" name="Text 11"/>
          <p:cNvSpPr/>
          <p:nvPr/>
        </p:nvSpPr>
        <p:spPr>
          <a:xfrm>
            <a:off x="7397750" y="4634229"/>
            <a:ext cx="391121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Act / Watch / Override — the coordinator decides</a:t>
            </a:r>
            <a:endParaRPr lang="en-US" sz="1200" dirty="0">
              <a:latin typeface="IBM Plex Sans" charset="0"/>
              <a:ea typeface="IBM Plex Sans" charset="0"/>
              <a:cs typeface="IBM Plex Sans" charset="0"/>
            </a:endParaRPr>
          </a:p>
        </p:txBody>
      </p:sp>
      <p:sp>
        <p:nvSpPr>
          <p:cNvPr id="14" name="Text 12"/>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6 / 10</a:t>
            </a:r>
            <a:endParaRPr lang="en-US" sz="1200" dirty="0">
              <a:latin typeface="IBM Plex Sans" charset="0"/>
              <a:ea typeface="IBM Plex Sans" charset="0"/>
              <a:cs typeface="IBM Plex Sans" charset="0"/>
            </a:endParaRPr>
          </a:p>
        </p:txBody>
      </p:sp>
      <p:pic>
        <p:nvPicPr>
          <p:cNvPr id="16" name="Picture 15">
            <a:extLst>
              <a:ext uri="{FF2B5EF4-FFF2-40B4-BE49-F238E27FC236}">
                <a16:creationId xmlns:a16="http://schemas.microsoft.com/office/drawing/2014/main" id="{93F4444F-B9EF-B3AB-C39B-EE2E705AFBF4}"/>
              </a:ext>
            </a:extLst>
          </p:cNvPr>
          <p:cNvPicPr>
            <a:picLocks noChangeAspect="1"/>
          </p:cNvPicPr>
          <p:nvPr/>
        </p:nvPicPr>
        <p:blipFill>
          <a:blip r:embed="rId3"/>
          <a:stretch>
            <a:fillRect/>
          </a:stretch>
        </p:blipFill>
        <p:spPr>
          <a:xfrm>
            <a:off x="215466" y="1732282"/>
            <a:ext cx="6754091" cy="37374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A15C07"/>
                </a:solidFill>
                <a:latin typeface="IBM Plex Sans" pitchFamily="34" charset="0"/>
                <a:ea typeface="IBM Plex Sans" pitchFamily="34" charset="-122"/>
                <a:cs typeface="IBM Plex Sans" pitchFamily="34" charset="-120"/>
              </a:rPr>
              <a:t>RESULTS · 2025 TEST, ~5,700 FLIGHTS, 13.2% BADLY LATE</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Ahead of strong operational baselines</a:t>
            </a:r>
            <a:endParaRPr lang="en-US" sz="3600" dirty="0">
              <a:latin typeface="Space Grotesk" charset="0"/>
              <a:ea typeface="Space Grotesk" charset="0"/>
              <a:cs typeface="Space Grotesk" charset="0"/>
            </a:endParaRPr>
          </a:p>
        </p:txBody>
      </p:sp>
      <p:sp>
        <p:nvSpPr>
          <p:cNvPr id="4" name="Text 2"/>
          <p:cNvSpPr/>
          <p:nvPr/>
        </p:nvSpPr>
        <p:spPr>
          <a:xfrm>
            <a:off x="812800" y="1732279"/>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PR-AUC = how well it ranks the truly late flights first. Higher is better; guessing = 0.13.</a:t>
            </a:r>
            <a:endParaRPr lang="en-US" sz="1400" dirty="0">
              <a:latin typeface="IBM Plex Sans" charset="0"/>
              <a:ea typeface="IBM Plex Sans" charset="0"/>
              <a:cs typeface="IBM Plex Sans" charset="0"/>
            </a:endParaRPr>
          </a:p>
        </p:txBody>
      </p:sp>
      <p:sp>
        <p:nvSpPr>
          <p:cNvPr id="5" name="Text 3"/>
          <p:cNvSpPr/>
          <p:nvPr/>
        </p:nvSpPr>
        <p:spPr>
          <a:xfrm>
            <a:off x="812800" y="2225039"/>
            <a:ext cx="274701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Guessing</a:t>
            </a:r>
            <a:endParaRPr lang="en-US" sz="1400" dirty="0">
              <a:latin typeface="IBM Plex Sans" charset="0"/>
              <a:ea typeface="IBM Plex Sans" charset="0"/>
              <a:cs typeface="IBM Plex Sans" charset="0"/>
            </a:endParaRPr>
          </a:p>
        </p:txBody>
      </p:sp>
      <p:sp>
        <p:nvSpPr>
          <p:cNvPr id="6" name="Shape 4"/>
          <p:cNvSpPr/>
          <p:nvPr/>
        </p:nvSpPr>
        <p:spPr>
          <a:xfrm>
            <a:off x="3632200" y="2209800"/>
            <a:ext cx="3016250" cy="279400"/>
          </a:xfrm>
          <a:prstGeom prst="roundRect">
            <a:avLst>
              <a:gd name="adj" fmla="val 13636"/>
            </a:avLst>
          </a:prstGeom>
          <a:solidFill>
            <a:srgbClr val="C9CFD9"/>
          </a:solidFill>
          <a:ln/>
        </p:spPr>
        <p:txBody>
          <a:bodyPr/>
          <a:lstStyle/>
          <a:p>
            <a:endParaRPr lang="en-SG"/>
          </a:p>
        </p:txBody>
      </p:sp>
      <p:sp>
        <p:nvSpPr>
          <p:cNvPr id="7" name="Text 5"/>
          <p:cNvSpPr/>
          <p:nvPr/>
        </p:nvSpPr>
        <p:spPr>
          <a:xfrm>
            <a:off x="6800850" y="2225039"/>
            <a:ext cx="57010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0.132</a:t>
            </a:r>
            <a:endParaRPr lang="en-US" sz="1400" dirty="0">
              <a:latin typeface="IBM Plex Sans" charset="0"/>
              <a:ea typeface="IBM Plex Sans" charset="0"/>
              <a:cs typeface="IBM Plex Sans" charset="0"/>
            </a:endParaRPr>
          </a:p>
        </p:txBody>
      </p:sp>
      <p:sp>
        <p:nvSpPr>
          <p:cNvPr id="8" name="Text 6"/>
          <p:cNvSpPr/>
          <p:nvPr/>
        </p:nvSpPr>
        <p:spPr>
          <a:xfrm>
            <a:off x="812800" y="2593339"/>
            <a:ext cx="274701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History</a:t>
            </a:r>
            <a:endParaRPr lang="en-US" sz="1400" dirty="0">
              <a:latin typeface="IBM Plex Sans" charset="0"/>
              <a:ea typeface="IBM Plex Sans" charset="0"/>
              <a:cs typeface="IBM Plex Sans" charset="0"/>
            </a:endParaRPr>
          </a:p>
        </p:txBody>
      </p:sp>
      <p:sp>
        <p:nvSpPr>
          <p:cNvPr id="9" name="Shape 7"/>
          <p:cNvSpPr/>
          <p:nvPr/>
        </p:nvSpPr>
        <p:spPr>
          <a:xfrm>
            <a:off x="3632200" y="2578100"/>
            <a:ext cx="4318000" cy="279400"/>
          </a:xfrm>
          <a:prstGeom prst="roundRect">
            <a:avLst>
              <a:gd name="adj" fmla="val 13636"/>
            </a:avLst>
          </a:prstGeom>
          <a:solidFill>
            <a:srgbClr val="C9CFD9"/>
          </a:solidFill>
          <a:ln/>
        </p:spPr>
        <p:txBody>
          <a:bodyPr/>
          <a:lstStyle/>
          <a:p>
            <a:endParaRPr lang="en-SG"/>
          </a:p>
        </p:txBody>
      </p:sp>
      <p:sp>
        <p:nvSpPr>
          <p:cNvPr id="10" name="Text 8"/>
          <p:cNvSpPr/>
          <p:nvPr/>
        </p:nvSpPr>
        <p:spPr>
          <a:xfrm>
            <a:off x="8102600" y="2593339"/>
            <a:ext cx="57010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0.189</a:t>
            </a:r>
            <a:endParaRPr lang="en-US" sz="1400" dirty="0">
              <a:latin typeface="IBM Plex Sans" charset="0"/>
              <a:ea typeface="IBM Plex Sans" charset="0"/>
              <a:cs typeface="IBM Plex Sans" charset="0"/>
            </a:endParaRPr>
          </a:p>
        </p:txBody>
      </p:sp>
      <p:sp>
        <p:nvSpPr>
          <p:cNvPr id="11" name="Text 9"/>
          <p:cNvSpPr/>
          <p:nvPr/>
        </p:nvSpPr>
        <p:spPr>
          <a:xfrm>
            <a:off x="812800" y="2961639"/>
            <a:ext cx="274701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History + month</a:t>
            </a:r>
            <a:endParaRPr lang="en-US" sz="1400" dirty="0">
              <a:latin typeface="IBM Plex Sans" charset="0"/>
              <a:ea typeface="IBM Plex Sans" charset="0"/>
              <a:cs typeface="IBM Plex Sans" charset="0"/>
            </a:endParaRPr>
          </a:p>
        </p:txBody>
      </p:sp>
      <p:sp>
        <p:nvSpPr>
          <p:cNvPr id="12" name="Shape 10"/>
          <p:cNvSpPr/>
          <p:nvPr/>
        </p:nvSpPr>
        <p:spPr>
          <a:xfrm>
            <a:off x="3632200" y="2946400"/>
            <a:ext cx="4527550" cy="279400"/>
          </a:xfrm>
          <a:prstGeom prst="roundRect">
            <a:avLst>
              <a:gd name="adj" fmla="val 13636"/>
            </a:avLst>
          </a:prstGeom>
          <a:solidFill>
            <a:srgbClr val="C9CFD9"/>
          </a:solidFill>
          <a:ln/>
        </p:spPr>
        <p:txBody>
          <a:bodyPr/>
          <a:lstStyle/>
          <a:p>
            <a:endParaRPr lang="en-SG"/>
          </a:p>
        </p:txBody>
      </p:sp>
      <p:sp>
        <p:nvSpPr>
          <p:cNvPr id="13" name="Text 11"/>
          <p:cNvSpPr/>
          <p:nvPr/>
        </p:nvSpPr>
        <p:spPr>
          <a:xfrm>
            <a:off x="8312150" y="2961639"/>
            <a:ext cx="57010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0.198</a:t>
            </a:r>
            <a:endParaRPr lang="en-US" sz="1400" dirty="0">
              <a:latin typeface="IBM Plex Sans" charset="0"/>
              <a:ea typeface="IBM Plex Sans" charset="0"/>
              <a:cs typeface="IBM Plex Sans" charset="0"/>
            </a:endParaRPr>
          </a:p>
        </p:txBody>
      </p:sp>
      <p:sp>
        <p:nvSpPr>
          <p:cNvPr id="14" name="Text 12"/>
          <p:cNvSpPr/>
          <p:nvPr/>
        </p:nvSpPr>
        <p:spPr>
          <a:xfrm>
            <a:off x="812800" y="3329939"/>
            <a:ext cx="274701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Weather rule</a:t>
            </a:r>
            <a:endParaRPr lang="en-US" sz="1400" dirty="0">
              <a:latin typeface="IBM Plex Sans" charset="0"/>
              <a:ea typeface="IBM Plex Sans" charset="0"/>
              <a:cs typeface="IBM Plex Sans" charset="0"/>
            </a:endParaRPr>
          </a:p>
        </p:txBody>
      </p:sp>
      <p:sp>
        <p:nvSpPr>
          <p:cNvPr id="15" name="Shape 13"/>
          <p:cNvSpPr/>
          <p:nvPr/>
        </p:nvSpPr>
        <p:spPr>
          <a:xfrm>
            <a:off x="3632200" y="3314700"/>
            <a:ext cx="4914900" cy="279400"/>
          </a:xfrm>
          <a:prstGeom prst="roundRect">
            <a:avLst>
              <a:gd name="adj" fmla="val 13636"/>
            </a:avLst>
          </a:prstGeom>
          <a:solidFill>
            <a:srgbClr val="8A94A6"/>
          </a:solidFill>
          <a:ln/>
        </p:spPr>
        <p:txBody>
          <a:bodyPr/>
          <a:lstStyle/>
          <a:p>
            <a:endParaRPr lang="en-SG"/>
          </a:p>
        </p:txBody>
      </p:sp>
      <p:sp>
        <p:nvSpPr>
          <p:cNvPr id="16" name="Text 14"/>
          <p:cNvSpPr/>
          <p:nvPr/>
        </p:nvSpPr>
        <p:spPr>
          <a:xfrm>
            <a:off x="8699500" y="3329939"/>
            <a:ext cx="57010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0.215</a:t>
            </a:r>
            <a:endParaRPr lang="en-US" sz="1400" dirty="0">
              <a:latin typeface="IBM Plex Sans" charset="0"/>
              <a:ea typeface="IBM Plex Sans" charset="0"/>
              <a:cs typeface="IBM Plex Sans" charset="0"/>
            </a:endParaRPr>
          </a:p>
        </p:txBody>
      </p:sp>
      <p:sp>
        <p:nvSpPr>
          <p:cNvPr id="17" name="Text 15"/>
          <p:cNvSpPr/>
          <p:nvPr/>
        </p:nvSpPr>
        <p:spPr>
          <a:xfrm>
            <a:off x="812800" y="3698239"/>
            <a:ext cx="274701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Our model</a:t>
            </a:r>
            <a:endParaRPr lang="en-US" sz="1400" dirty="0">
              <a:latin typeface="IBM Plex Sans" charset="0"/>
              <a:ea typeface="IBM Plex Sans" charset="0"/>
              <a:cs typeface="IBM Plex Sans" charset="0"/>
            </a:endParaRPr>
          </a:p>
        </p:txBody>
      </p:sp>
      <p:sp>
        <p:nvSpPr>
          <p:cNvPr id="18" name="Shape 16"/>
          <p:cNvSpPr/>
          <p:nvPr/>
        </p:nvSpPr>
        <p:spPr>
          <a:xfrm>
            <a:off x="3632200" y="3683000"/>
            <a:ext cx="5029200" cy="279400"/>
          </a:xfrm>
          <a:prstGeom prst="roundRect">
            <a:avLst>
              <a:gd name="adj" fmla="val 13636"/>
            </a:avLst>
          </a:prstGeom>
          <a:solidFill>
            <a:srgbClr val="E8A33D"/>
          </a:solidFill>
          <a:ln/>
        </p:spPr>
        <p:txBody>
          <a:bodyPr/>
          <a:lstStyle/>
          <a:p>
            <a:endParaRPr lang="en-SG"/>
          </a:p>
        </p:txBody>
      </p:sp>
      <p:sp>
        <p:nvSpPr>
          <p:cNvPr id="19" name="Text 17"/>
          <p:cNvSpPr/>
          <p:nvPr/>
        </p:nvSpPr>
        <p:spPr>
          <a:xfrm>
            <a:off x="8813800" y="3698239"/>
            <a:ext cx="2579751"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0.220 </a:t>
            </a:r>
            <a:r>
              <a:rPr lang="en-US" sz="1400" b="1" dirty="0">
                <a:solidFill>
                  <a:srgbClr val="4A5568"/>
                </a:solidFill>
                <a:latin typeface="IBM Plex Sans" pitchFamily="34" charset="0"/>
                <a:ea typeface="IBM Plex Sans" pitchFamily="34" charset="-122"/>
                <a:cs typeface="IBM Plex Sans" pitchFamily="34" charset="-120"/>
              </a:rPr>
              <a:t>(95% CI 0.19–0.25)</a:t>
            </a:r>
            <a:endParaRPr lang="en-US" sz="1400" dirty="0">
              <a:latin typeface="IBM Plex Sans" charset="0"/>
              <a:ea typeface="IBM Plex Sans" charset="0"/>
              <a:cs typeface="IBM Plex Sans" charset="0"/>
            </a:endParaRPr>
          </a:p>
        </p:txBody>
      </p:sp>
      <p:sp>
        <p:nvSpPr>
          <p:cNvPr id="20" name="Shape 18"/>
          <p:cNvSpPr/>
          <p:nvPr/>
        </p:nvSpPr>
        <p:spPr>
          <a:xfrm>
            <a:off x="815975" y="4194175"/>
            <a:ext cx="3414183" cy="1154430"/>
          </a:xfrm>
          <a:prstGeom prst="roundRect">
            <a:avLst>
              <a:gd name="adj" fmla="val 8526"/>
            </a:avLst>
          </a:prstGeom>
          <a:solidFill>
            <a:srgbClr val="FFFDF8"/>
          </a:solidFill>
          <a:ln w="6350">
            <a:solidFill>
              <a:srgbClr val="E2DED3"/>
            </a:solidFill>
            <a:prstDash val="solid"/>
          </a:ln>
        </p:spPr>
        <p:txBody>
          <a:bodyPr/>
          <a:lstStyle/>
          <a:p>
            <a:endParaRPr lang="en-SG"/>
          </a:p>
        </p:txBody>
      </p:sp>
      <p:sp>
        <p:nvSpPr>
          <p:cNvPr id="21" name="Text 19"/>
          <p:cNvSpPr/>
          <p:nvPr/>
        </p:nvSpPr>
        <p:spPr>
          <a:xfrm>
            <a:off x="971550" y="4349750"/>
            <a:ext cx="3196124"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15C07"/>
                </a:solidFill>
                <a:latin typeface="Space Grotesk" pitchFamily="34" charset="0"/>
                <a:ea typeface="Space Grotesk" pitchFamily="34" charset="-122"/>
                <a:cs typeface="Space Grotesk" pitchFamily="34" charset="-120"/>
              </a:rPr>
              <a:t>1.7×</a:t>
            </a:r>
            <a:endParaRPr lang="en-US" sz="2200" dirty="0">
              <a:latin typeface="Space Grotesk" charset="0"/>
              <a:ea typeface="Space Grotesk" charset="0"/>
              <a:cs typeface="Space Grotesk" charset="0"/>
            </a:endParaRPr>
          </a:p>
        </p:txBody>
      </p:sp>
      <p:sp>
        <p:nvSpPr>
          <p:cNvPr id="22" name="Text 20"/>
          <p:cNvSpPr/>
          <p:nvPr/>
        </p:nvSpPr>
        <p:spPr>
          <a:xfrm>
            <a:off x="971550" y="4766311"/>
            <a:ext cx="319612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better than guessing (+0.087, CI +0.064 to +0.114)</a:t>
            </a:r>
            <a:endParaRPr lang="en-US" sz="1200" dirty="0">
              <a:latin typeface="IBM Plex Sans" charset="0"/>
              <a:ea typeface="IBM Plex Sans" charset="0"/>
              <a:cs typeface="IBM Plex Sans" charset="0"/>
            </a:endParaRPr>
          </a:p>
        </p:txBody>
      </p:sp>
      <p:sp>
        <p:nvSpPr>
          <p:cNvPr id="23" name="Shape 21"/>
          <p:cNvSpPr/>
          <p:nvPr/>
        </p:nvSpPr>
        <p:spPr>
          <a:xfrm>
            <a:off x="4388908" y="4194175"/>
            <a:ext cx="3414183" cy="1154430"/>
          </a:xfrm>
          <a:prstGeom prst="roundRect">
            <a:avLst>
              <a:gd name="adj" fmla="val 8526"/>
            </a:avLst>
          </a:prstGeom>
          <a:solidFill>
            <a:srgbClr val="FFFDF8"/>
          </a:solidFill>
          <a:ln w="6350">
            <a:solidFill>
              <a:srgbClr val="E2DED3"/>
            </a:solidFill>
            <a:prstDash val="solid"/>
          </a:ln>
        </p:spPr>
        <p:txBody>
          <a:bodyPr/>
          <a:lstStyle/>
          <a:p>
            <a:endParaRPr lang="en-SG"/>
          </a:p>
        </p:txBody>
      </p:sp>
      <p:sp>
        <p:nvSpPr>
          <p:cNvPr id="24" name="Text 22"/>
          <p:cNvSpPr/>
          <p:nvPr/>
        </p:nvSpPr>
        <p:spPr>
          <a:xfrm>
            <a:off x="4544483" y="4349750"/>
            <a:ext cx="3196124"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15C07"/>
                </a:solidFill>
                <a:latin typeface="Space Grotesk" pitchFamily="34" charset="0"/>
                <a:ea typeface="Space Grotesk" pitchFamily="34" charset="-122"/>
                <a:cs typeface="Space Grotesk" pitchFamily="34" charset="-120"/>
              </a:rPr>
              <a:t>+9% at 12 h</a:t>
            </a:r>
            <a:endParaRPr lang="en-US" sz="2200" dirty="0">
              <a:latin typeface="Space Grotesk" charset="0"/>
              <a:ea typeface="Space Grotesk" charset="0"/>
              <a:cs typeface="Space Grotesk" charset="0"/>
            </a:endParaRPr>
          </a:p>
        </p:txBody>
      </p:sp>
      <p:sp>
        <p:nvSpPr>
          <p:cNvPr id="25" name="Text 23"/>
          <p:cNvSpPr/>
          <p:nvPr/>
        </p:nvSpPr>
        <p:spPr>
          <a:xfrm>
            <a:off x="4544483" y="4766311"/>
            <a:ext cx="319612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vs the weather rule; a tie at 3 h. Model holds 0.219–0.222, rule drops to 0.202</a:t>
            </a:r>
            <a:endParaRPr lang="en-US" sz="1200" dirty="0">
              <a:latin typeface="IBM Plex Sans" charset="0"/>
              <a:ea typeface="IBM Plex Sans" charset="0"/>
              <a:cs typeface="IBM Plex Sans" charset="0"/>
            </a:endParaRPr>
          </a:p>
        </p:txBody>
      </p:sp>
      <p:sp>
        <p:nvSpPr>
          <p:cNvPr id="26" name="Shape 24"/>
          <p:cNvSpPr/>
          <p:nvPr/>
        </p:nvSpPr>
        <p:spPr>
          <a:xfrm>
            <a:off x="7961842" y="4194175"/>
            <a:ext cx="3414183" cy="1154430"/>
          </a:xfrm>
          <a:prstGeom prst="roundRect">
            <a:avLst>
              <a:gd name="adj" fmla="val 8526"/>
            </a:avLst>
          </a:prstGeom>
          <a:solidFill>
            <a:srgbClr val="FFFDF8"/>
          </a:solidFill>
          <a:ln w="6350">
            <a:solidFill>
              <a:srgbClr val="E2DED3"/>
            </a:solidFill>
            <a:prstDash val="solid"/>
          </a:ln>
        </p:spPr>
        <p:txBody>
          <a:bodyPr/>
          <a:lstStyle/>
          <a:p>
            <a:endParaRPr lang="en-SG"/>
          </a:p>
        </p:txBody>
      </p:sp>
      <p:sp>
        <p:nvSpPr>
          <p:cNvPr id="27" name="Text 25"/>
          <p:cNvSpPr/>
          <p:nvPr/>
        </p:nvSpPr>
        <p:spPr>
          <a:xfrm>
            <a:off x="8117417" y="4349750"/>
            <a:ext cx="3196124"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15C07"/>
                </a:solidFill>
                <a:latin typeface="Space Grotesk" pitchFamily="34" charset="0"/>
                <a:ea typeface="Space Grotesk" pitchFamily="34" charset="-122"/>
                <a:cs typeface="Space Grotesk" pitchFamily="34" charset="-120"/>
              </a:rPr>
              <a:t>~Half caught</a:t>
            </a:r>
            <a:endParaRPr lang="en-US" sz="2200" dirty="0">
              <a:latin typeface="Space Grotesk" charset="0"/>
              <a:ea typeface="Space Grotesk" charset="0"/>
              <a:cs typeface="Space Grotesk" charset="0"/>
            </a:endParaRPr>
          </a:p>
        </p:txBody>
      </p:sp>
      <p:sp>
        <p:nvSpPr>
          <p:cNvPr id="28" name="Text 26"/>
          <p:cNvSpPr/>
          <p:nvPr/>
        </p:nvSpPr>
        <p:spPr>
          <a:xfrm>
            <a:off x="8117417" y="4766311"/>
            <a:ext cx="319612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49–53% of badly late flights, 3–12 h ahead; about 1 in 5 alerts is right</a:t>
            </a:r>
            <a:endParaRPr lang="en-US" sz="1200" dirty="0">
              <a:latin typeface="IBM Plex Sans" charset="0"/>
              <a:ea typeface="IBM Plex Sans" charset="0"/>
              <a:cs typeface="IBM Plex Sans" charset="0"/>
            </a:endParaRPr>
          </a:p>
        </p:txBody>
      </p:sp>
      <p:sp>
        <p:nvSpPr>
          <p:cNvPr id="29" name="Text 27"/>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Trained on ATL only, it still scores 0.194 at DFW (0.233 own model) · Source: outputs/metrics/pitch.md, metrics_ci.csv · 7 / 10</a:t>
            </a:r>
            <a:endParaRPr lang="en-US" sz="1200" dirty="0">
              <a:latin typeface="IBM Plex Sans" charset="0"/>
              <a:ea typeface="IBM Plex Sans" charset="0"/>
              <a:cs typeface="IBM Plex Sans"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A15C07"/>
                </a:solidFill>
                <a:latin typeface="IBM Plex Sans" pitchFamily="34" charset="0"/>
                <a:ea typeface="IBM Plex Sans" pitchFamily="34" charset="-122"/>
                <a:cs typeface="IBM Plex Sans" pitchFamily="34" charset="-120"/>
              </a:rPr>
              <a:t>INSIGHT</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Weather is a small cause, but a sharp one</a:t>
            </a:r>
            <a:endParaRPr lang="en-US" sz="3600" dirty="0">
              <a:latin typeface="Space Grotesk" charset="0"/>
              <a:ea typeface="Space Grotesk" charset="0"/>
              <a:cs typeface="Space Grotesk" charset="0"/>
            </a:endParaRPr>
          </a:p>
        </p:txBody>
      </p:sp>
      <p:sp>
        <p:nvSpPr>
          <p:cNvPr id="4" name="Text 2"/>
          <p:cNvSpPr/>
          <p:nvPr/>
        </p:nvSpPr>
        <p:spPr>
          <a:xfrm>
            <a:off x="812800" y="1884679"/>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What caused badly-late delay minutes at ATL/DFW (airline cause codes, after the fact)</a:t>
            </a:r>
            <a:endParaRPr lang="en-US" sz="1400" dirty="0">
              <a:latin typeface="IBM Plex Sans" charset="0"/>
              <a:ea typeface="IBM Plex Sans" charset="0"/>
              <a:cs typeface="IBM Plex Sans" charset="0"/>
            </a:endParaRPr>
          </a:p>
        </p:txBody>
      </p:sp>
      <p:sp>
        <p:nvSpPr>
          <p:cNvPr id="5" name="Shape 3"/>
          <p:cNvSpPr/>
          <p:nvPr/>
        </p:nvSpPr>
        <p:spPr>
          <a:xfrm>
            <a:off x="812800" y="2235200"/>
            <a:ext cx="4603750" cy="406400"/>
          </a:xfrm>
          <a:custGeom>
            <a:avLst/>
            <a:gdLst/>
            <a:ahLst/>
            <a:cxnLst/>
            <a:rect l="l" t="t" r="r" b="b"/>
            <a:pathLst>
              <a:path w="4603750" h="406400">
                <a:moveTo>
                  <a:pt x="0" y="50800"/>
                </a:moveTo>
                <a:arcTo wR="50800" hR="50800" stAng="10800000" swAng="5400000"/>
                <a:lnTo>
                  <a:pt x="4603750" y="0"/>
                </a:lnTo>
                <a:lnTo>
                  <a:pt x="4603750" y="406400"/>
                </a:lnTo>
                <a:lnTo>
                  <a:pt x="50800" y="406400"/>
                </a:lnTo>
                <a:arcTo wR="50800" hR="50800" stAng="5400000" swAng="5400000"/>
                <a:close/>
              </a:path>
            </a:pathLst>
          </a:custGeom>
          <a:solidFill>
            <a:srgbClr val="14213D"/>
          </a:solidFill>
          <a:ln/>
        </p:spPr>
        <p:txBody>
          <a:bodyPr/>
          <a:lstStyle/>
          <a:p>
            <a:endParaRPr lang="en-SG"/>
          </a:p>
        </p:txBody>
      </p:sp>
      <p:sp>
        <p:nvSpPr>
          <p:cNvPr id="6" name="Shape 4"/>
          <p:cNvSpPr/>
          <p:nvPr/>
        </p:nvSpPr>
        <p:spPr>
          <a:xfrm>
            <a:off x="5416550" y="2235200"/>
            <a:ext cx="3486150" cy="406400"/>
          </a:xfrm>
          <a:prstGeom prst="rect">
            <a:avLst/>
          </a:prstGeom>
          <a:solidFill>
            <a:srgbClr val="3B7DD8"/>
          </a:solidFill>
          <a:ln/>
        </p:spPr>
        <p:txBody>
          <a:bodyPr/>
          <a:lstStyle/>
          <a:p>
            <a:endParaRPr lang="en-SG"/>
          </a:p>
        </p:txBody>
      </p:sp>
      <p:sp>
        <p:nvSpPr>
          <p:cNvPr id="7" name="Shape 5"/>
          <p:cNvSpPr/>
          <p:nvPr/>
        </p:nvSpPr>
        <p:spPr>
          <a:xfrm>
            <a:off x="8902700" y="2235200"/>
            <a:ext cx="1587500" cy="406400"/>
          </a:xfrm>
          <a:prstGeom prst="rect">
            <a:avLst/>
          </a:prstGeom>
          <a:solidFill>
            <a:srgbClr val="B8C0CC"/>
          </a:solidFill>
          <a:ln/>
        </p:spPr>
        <p:txBody>
          <a:bodyPr/>
          <a:lstStyle/>
          <a:p>
            <a:endParaRPr lang="en-SG"/>
          </a:p>
        </p:txBody>
      </p:sp>
      <p:sp>
        <p:nvSpPr>
          <p:cNvPr id="8" name="Shape 6"/>
          <p:cNvSpPr/>
          <p:nvPr/>
        </p:nvSpPr>
        <p:spPr>
          <a:xfrm>
            <a:off x="10490200" y="2235200"/>
            <a:ext cx="889000" cy="406400"/>
          </a:xfrm>
          <a:custGeom>
            <a:avLst/>
            <a:gdLst/>
            <a:ahLst/>
            <a:cxnLst/>
            <a:rect l="l" t="t" r="r" b="b"/>
            <a:pathLst>
              <a:path w="889000" h="406400">
                <a:moveTo>
                  <a:pt x="838200" y="0"/>
                </a:moveTo>
                <a:arcTo wR="50800" hR="50800" stAng="16200000" swAng="5400000"/>
                <a:lnTo>
                  <a:pt x="889000" y="355600"/>
                </a:lnTo>
                <a:arcTo wR="50800" hR="50800" stAng="0" swAng="5400000"/>
                <a:lnTo>
                  <a:pt x="0" y="406400"/>
                </a:lnTo>
                <a:lnTo>
                  <a:pt x="0" y="0"/>
                </a:lnTo>
                <a:close/>
              </a:path>
            </a:pathLst>
          </a:custGeom>
          <a:solidFill>
            <a:srgbClr val="E8A33D"/>
          </a:solidFill>
          <a:ln/>
        </p:spPr>
        <p:txBody>
          <a:bodyPr/>
          <a:lstStyle/>
          <a:p>
            <a:endParaRPr lang="en-SG"/>
          </a:p>
        </p:txBody>
      </p:sp>
      <p:sp>
        <p:nvSpPr>
          <p:cNvPr id="9" name="Text 7"/>
          <p:cNvSpPr/>
          <p:nvPr/>
        </p:nvSpPr>
        <p:spPr>
          <a:xfrm>
            <a:off x="812800" y="2743200"/>
            <a:ext cx="227890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 Late-arriving aircraft </a:t>
            </a:r>
            <a:r>
              <a:rPr lang="en-US" sz="1200" b="1" dirty="0">
                <a:solidFill>
                  <a:srgbClr val="14213D"/>
                </a:solidFill>
                <a:latin typeface="IBM Plex Sans" pitchFamily="34" charset="0"/>
                <a:ea typeface="IBM Plex Sans" pitchFamily="34" charset="-122"/>
                <a:cs typeface="IBM Plex Sans" pitchFamily="34" charset="-120"/>
              </a:rPr>
              <a:t>43.6%</a:t>
            </a:r>
            <a:endParaRPr lang="en-US" sz="1200" dirty="0">
              <a:latin typeface="IBM Plex Sans" charset="0"/>
              <a:ea typeface="IBM Plex Sans" charset="0"/>
              <a:cs typeface="IBM Plex Sans" charset="0"/>
            </a:endParaRPr>
          </a:p>
        </p:txBody>
      </p:sp>
      <p:sp>
        <p:nvSpPr>
          <p:cNvPr id="10" name="Text 8"/>
          <p:cNvSpPr/>
          <p:nvPr/>
        </p:nvSpPr>
        <p:spPr>
          <a:xfrm>
            <a:off x="3091709" y="2743200"/>
            <a:ext cx="20934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7DD8"/>
                </a:solidFill>
                <a:latin typeface="IBM Plex Sans" pitchFamily="34" charset="0"/>
                <a:ea typeface="IBM Plex Sans" pitchFamily="34" charset="-122"/>
                <a:cs typeface="IBM Plex Sans" pitchFamily="34" charset="-120"/>
              </a:rPr>
              <a:t>■</a:t>
            </a:r>
            <a:r>
              <a:rPr lang="en-US" sz="1200" dirty="0">
                <a:solidFill>
                  <a:srgbClr val="14213D"/>
                </a:solidFill>
                <a:latin typeface="IBM Plex Sans" pitchFamily="34" charset="0"/>
                <a:ea typeface="IBM Plex Sans" pitchFamily="34" charset="-122"/>
                <a:cs typeface="IBM Plex Sans" pitchFamily="34" charset="-120"/>
              </a:rPr>
              <a:t> Airline operations </a:t>
            </a:r>
            <a:r>
              <a:rPr lang="en-US" sz="1200" b="1" dirty="0">
                <a:solidFill>
                  <a:srgbClr val="14213D"/>
                </a:solidFill>
                <a:latin typeface="IBM Plex Sans" pitchFamily="34" charset="0"/>
                <a:ea typeface="IBM Plex Sans" pitchFamily="34" charset="-122"/>
                <a:cs typeface="IBM Plex Sans" pitchFamily="34" charset="-120"/>
              </a:rPr>
              <a:t>33.0%</a:t>
            </a:r>
            <a:endParaRPr lang="en-US" sz="1200" dirty="0">
              <a:latin typeface="IBM Plex Sans" charset="0"/>
              <a:ea typeface="IBM Plex Sans" charset="0"/>
              <a:cs typeface="IBM Plex Sans" charset="0"/>
            </a:endParaRPr>
          </a:p>
        </p:txBody>
      </p:sp>
      <p:sp>
        <p:nvSpPr>
          <p:cNvPr id="11" name="Text 9"/>
          <p:cNvSpPr/>
          <p:nvPr/>
        </p:nvSpPr>
        <p:spPr>
          <a:xfrm>
            <a:off x="5185198" y="2743200"/>
            <a:ext cx="206205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4A6"/>
                </a:solidFill>
                <a:latin typeface="IBM Plex Sans" pitchFamily="34" charset="0"/>
                <a:ea typeface="IBM Plex Sans" pitchFamily="34" charset="-122"/>
                <a:cs typeface="IBM Plex Sans" pitchFamily="34" charset="-120"/>
              </a:rPr>
              <a:t>■</a:t>
            </a:r>
            <a:r>
              <a:rPr lang="en-US" sz="1200" dirty="0">
                <a:solidFill>
                  <a:srgbClr val="14213D"/>
                </a:solidFill>
                <a:latin typeface="IBM Plex Sans" pitchFamily="34" charset="0"/>
                <a:ea typeface="IBM Plex Sans" pitchFamily="34" charset="-122"/>
                <a:cs typeface="IBM Plex Sans" pitchFamily="34" charset="-120"/>
              </a:rPr>
              <a:t> Air-traffic system </a:t>
            </a:r>
            <a:r>
              <a:rPr lang="en-US" sz="1200" b="1" dirty="0">
                <a:solidFill>
                  <a:srgbClr val="14213D"/>
                </a:solidFill>
                <a:latin typeface="IBM Plex Sans" pitchFamily="34" charset="0"/>
                <a:ea typeface="IBM Plex Sans" pitchFamily="34" charset="-122"/>
                <a:cs typeface="IBM Plex Sans" pitchFamily="34" charset="-120"/>
              </a:rPr>
              <a:t>15.0%</a:t>
            </a:r>
            <a:endParaRPr lang="en-US" sz="1200" dirty="0">
              <a:latin typeface="IBM Plex Sans" charset="0"/>
              <a:ea typeface="IBM Plex Sans" charset="0"/>
              <a:cs typeface="IBM Plex Sans" charset="0"/>
            </a:endParaRPr>
          </a:p>
        </p:txBody>
      </p:sp>
      <p:sp>
        <p:nvSpPr>
          <p:cNvPr id="12" name="Text 10"/>
          <p:cNvSpPr/>
          <p:nvPr/>
        </p:nvSpPr>
        <p:spPr>
          <a:xfrm>
            <a:off x="7247255" y="2743200"/>
            <a:ext cx="258140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15C07"/>
                </a:solidFill>
                <a:latin typeface="IBM Plex Sans" pitchFamily="34" charset="0"/>
                <a:ea typeface="IBM Plex Sans" pitchFamily="34" charset="-122"/>
                <a:cs typeface="IBM Plex Sans" pitchFamily="34" charset="-120"/>
              </a:rPr>
              <a:t>■</a:t>
            </a:r>
            <a:r>
              <a:rPr lang="en-US" sz="1200" dirty="0">
                <a:solidFill>
                  <a:srgbClr val="14213D"/>
                </a:solidFill>
                <a:latin typeface="IBM Plex Sans" pitchFamily="34" charset="0"/>
                <a:ea typeface="IBM Plex Sans" pitchFamily="34" charset="-122"/>
                <a:cs typeface="IBM Plex Sans" pitchFamily="34" charset="-120"/>
              </a:rPr>
              <a:t> Weather, coded directly </a:t>
            </a:r>
            <a:r>
              <a:rPr lang="en-US" sz="1200" b="1" dirty="0">
                <a:solidFill>
                  <a:srgbClr val="14213D"/>
                </a:solidFill>
                <a:latin typeface="IBM Plex Sans" pitchFamily="34" charset="0"/>
                <a:ea typeface="IBM Plex Sans" pitchFamily="34" charset="-122"/>
                <a:cs typeface="IBM Plex Sans" pitchFamily="34" charset="-120"/>
              </a:rPr>
              <a:t>8.3%</a:t>
            </a:r>
            <a:endParaRPr lang="en-US" sz="1200" dirty="0">
              <a:latin typeface="IBM Plex Sans" charset="0"/>
              <a:ea typeface="IBM Plex Sans" charset="0"/>
              <a:cs typeface="IBM Plex Sans" charset="0"/>
            </a:endParaRPr>
          </a:p>
        </p:txBody>
      </p:sp>
      <p:sp>
        <p:nvSpPr>
          <p:cNvPr id="13" name="Shape 11"/>
          <p:cNvSpPr/>
          <p:nvPr/>
        </p:nvSpPr>
        <p:spPr>
          <a:xfrm>
            <a:off x="812800" y="3210561"/>
            <a:ext cx="5175250" cy="1816100"/>
          </a:xfrm>
          <a:prstGeom prst="roundRect">
            <a:avLst>
              <a:gd name="adj" fmla="val 5594"/>
            </a:avLst>
          </a:prstGeom>
          <a:solidFill>
            <a:srgbClr val="14213D"/>
          </a:solidFill>
          <a:ln/>
        </p:spPr>
        <p:txBody>
          <a:bodyPr/>
          <a:lstStyle/>
          <a:p>
            <a:endParaRPr lang="en-SG"/>
          </a:p>
        </p:txBody>
      </p:sp>
      <p:sp>
        <p:nvSpPr>
          <p:cNvPr id="14" name="Text 12"/>
          <p:cNvSpPr/>
          <p:nvPr/>
        </p:nvSpPr>
        <p:spPr>
          <a:xfrm>
            <a:off x="1041400" y="3439161"/>
            <a:ext cx="4859592"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E8A33D"/>
                </a:solidFill>
                <a:latin typeface="Space Grotesk" pitchFamily="34" charset="0"/>
                <a:ea typeface="Space Grotesk" pitchFamily="34" charset="-122"/>
                <a:cs typeface="Space Grotesk" pitchFamily="34" charset="-120"/>
              </a:rPr>
              <a:t>37.7%</a:t>
            </a:r>
            <a:endParaRPr lang="en-US" sz="4800" dirty="0">
              <a:latin typeface="Space Grotesk" charset="0"/>
              <a:ea typeface="Space Grotesk" charset="0"/>
              <a:cs typeface="Space Grotesk" charset="0"/>
            </a:endParaRPr>
          </a:p>
        </p:txBody>
      </p:sp>
      <p:sp>
        <p:nvSpPr>
          <p:cNvPr id="15" name="Text 13"/>
          <p:cNvSpPr/>
          <p:nvPr/>
        </p:nvSpPr>
        <p:spPr>
          <a:xfrm>
            <a:off x="1041400" y="4099558"/>
            <a:ext cx="48595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5F0"/>
                </a:solidFill>
                <a:latin typeface="IBM Plex Sans" pitchFamily="34" charset="0"/>
                <a:ea typeface="IBM Plex Sans" pitchFamily="34" charset="-122"/>
                <a:cs typeface="IBM Plex Sans" pitchFamily="34" charset="-120"/>
              </a:rPr>
              <a:t>of thunderstorm flights badly late, vs 10.6% normally</a:t>
            </a:r>
            <a:endParaRPr lang="en-US" sz="1400" dirty="0">
              <a:latin typeface="IBM Plex Sans" charset="0"/>
              <a:ea typeface="IBM Plex Sans" charset="0"/>
              <a:cs typeface="IBM Plex Sans" charset="0"/>
            </a:endParaRPr>
          </a:p>
        </p:txBody>
      </p:sp>
      <p:sp>
        <p:nvSpPr>
          <p:cNvPr id="16" name="Text 14"/>
          <p:cNvSpPr/>
          <p:nvPr/>
        </p:nvSpPr>
        <p:spPr>
          <a:xfrm>
            <a:off x="1041400" y="4399279"/>
            <a:ext cx="48595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CDD"/>
                </a:solidFill>
                <a:latin typeface="IBM Plex Sans" pitchFamily="34" charset="0"/>
                <a:ea typeface="IBM Plex Sans" pitchFamily="34" charset="-122"/>
                <a:cs typeface="IBM Plex Sans" pitchFamily="34" charset="-120"/>
              </a:rPr>
              <a:t>only 61 storm flights in the sample</a:t>
            </a:r>
            <a:endParaRPr lang="en-US" sz="1200" dirty="0">
              <a:latin typeface="IBM Plex Sans" charset="0"/>
              <a:ea typeface="IBM Plex Sans" charset="0"/>
              <a:cs typeface="IBM Plex Sans" charset="0"/>
            </a:endParaRPr>
          </a:p>
        </p:txBody>
      </p:sp>
      <p:sp>
        <p:nvSpPr>
          <p:cNvPr id="17" name="Shape 15"/>
          <p:cNvSpPr/>
          <p:nvPr/>
        </p:nvSpPr>
        <p:spPr>
          <a:xfrm>
            <a:off x="6194425" y="3213736"/>
            <a:ext cx="5181600" cy="1809750"/>
          </a:xfrm>
          <a:prstGeom prst="roundRect">
            <a:avLst>
              <a:gd name="adj" fmla="val 5439"/>
            </a:avLst>
          </a:prstGeom>
          <a:solidFill>
            <a:srgbClr val="FFFDF8"/>
          </a:solidFill>
          <a:ln w="6350">
            <a:solidFill>
              <a:srgbClr val="E2DED3"/>
            </a:solidFill>
            <a:prstDash val="solid"/>
          </a:ln>
        </p:spPr>
        <p:txBody>
          <a:bodyPr/>
          <a:lstStyle/>
          <a:p>
            <a:endParaRPr lang="en-SG"/>
          </a:p>
        </p:txBody>
      </p:sp>
      <p:sp>
        <p:nvSpPr>
          <p:cNvPr id="18" name="Text 16"/>
          <p:cNvSpPr/>
          <p:nvPr/>
        </p:nvSpPr>
        <p:spPr>
          <a:xfrm>
            <a:off x="6426200" y="3445511"/>
            <a:ext cx="485959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IBM Plex Sans" pitchFamily="34" charset="0"/>
                <a:ea typeface="IBM Plex Sans" pitchFamily="34" charset="-122"/>
                <a:cs typeface="IBM Plex Sans" pitchFamily="34" charset="-120"/>
              </a:rPr>
              <a:t>Adding weather to the delay model: </a:t>
            </a:r>
            <a:r>
              <a:rPr lang="en-US" sz="1400" b="1" dirty="0">
                <a:solidFill>
                  <a:srgbClr val="14213D"/>
                </a:solidFill>
                <a:latin typeface="IBM Plex Sans" pitchFamily="34" charset="0"/>
                <a:ea typeface="IBM Plex Sans" pitchFamily="34" charset="-122"/>
                <a:cs typeface="IBM Plex Sans" pitchFamily="34" charset="-120"/>
              </a:rPr>
              <a:t>+0.012 PR-AUC</a:t>
            </a:r>
            <a:r>
              <a:rPr lang="en-US" sz="1400" dirty="0">
                <a:solidFill>
                  <a:srgbClr val="14213D"/>
                </a:solidFill>
                <a:latin typeface="IBM Plex Sans" pitchFamily="34" charset="0"/>
                <a:ea typeface="IBM Plex Sans" pitchFamily="34" charset="-122"/>
                <a:cs typeface="IBM Plex Sans" pitchFamily="34" charset="-120"/>
              </a:rPr>
              <a:t>, not significant. Even perfect same-hour weather: +0.003.</a:t>
            </a:r>
            <a:endParaRPr lang="en-US" sz="1400" dirty="0">
              <a:latin typeface="IBM Plex Sans" charset="0"/>
              <a:ea typeface="IBM Plex Sans" charset="0"/>
              <a:cs typeface="IBM Plex Sans" charset="0"/>
            </a:endParaRPr>
          </a:p>
        </p:txBody>
      </p:sp>
      <p:sp>
        <p:nvSpPr>
          <p:cNvPr id="19" name="Text 17"/>
          <p:cNvSpPr/>
          <p:nvPr/>
        </p:nvSpPr>
        <p:spPr>
          <a:xfrm>
            <a:off x="6426200" y="4044950"/>
            <a:ext cx="485959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IBM Plex Sans" pitchFamily="34" charset="0"/>
                <a:ea typeface="IBM Plex Sans" pitchFamily="34" charset="-122"/>
                <a:cs typeface="IBM Plex Sans" pitchFamily="34" charset="-120"/>
              </a:rPr>
              <a:t>Arrivals-per-hour model (full public BTS data): 1–7% better than a strong schedule baseline overall, </a:t>
            </a:r>
            <a:r>
              <a:rPr lang="en-US" sz="1400" b="1" dirty="0">
                <a:solidFill>
                  <a:srgbClr val="14213D"/>
                </a:solidFill>
                <a:latin typeface="IBM Plex Sans" pitchFamily="34" charset="0"/>
                <a:ea typeface="IBM Plex Sans" pitchFamily="34" charset="-122"/>
                <a:cs typeface="IBM Plex Sans" pitchFamily="34" charset="-120"/>
              </a:rPr>
              <a:t>4–13% better in bad-weather hours</a:t>
            </a:r>
            <a:r>
              <a:rPr lang="en-US" sz="1400" dirty="0">
                <a:solidFill>
                  <a:srgbClr val="14213D"/>
                </a:solidFill>
                <a:latin typeface="IBM Plex Sans" pitchFamily="34" charset="0"/>
                <a:ea typeface="IBM Plex Sans" pitchFamily="34" charset="-122"/>
                <a:cs typeface="IBM Plex Sans" pitchFamily="34" charset="-120"/>
              </a:rPr>
              <a:t> (significant at every horizon).</a:t>
            </a:r>
            <a:endParaRPr lang="en-US" sz="1400" dirty="0">
              <a:latin typeface="IBM Plex Sans" charset="0"/>
              <a:ea typeface="IBM Plex Sans" charset="0"/>
              <a:cs typeface="IBM Plex Sans" charset="0"/>
            </a:endParaRPr>
          </a:p>
        </p:txBody>
      </p:sp>
      <p:sp>
        <p:nvSpPr>
          <p:cNvPr id="20" name="Text 18"/>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8 / 10</a:t>
            </a:r>
            <a:endParaRPr lang="en-US" sz="1200" dirty="0">
              <a:latin typeface="IBM Plex Sans" charset="0"/>
              <a:ea typeface="IBM Plex Sans" charset="0"/>
              <a:cs typeface="IBM Plex Sans"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A15C07"/>
                </a:solidFill>
                <a:latin typeface="IBM Plex Sans" pitchFamily="34" charset="0"/>
                <a:ea typeface="IBM Plex Sans" pitchFamily="34" charset="-122"/>
                <a:cs typeface="IBM Plex Sans" pitchFamily="34" charset="-120"/>
              </a:rPr>
              <a:t>FAILURE CASE</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277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Where it fails, and how you’d know</a:t>
            </a:r>
            <a:endParaRPr lang="en-US" sz="3600" dirty="0">
              <a:latin typeface="Space Grotesk" charset="0"/>
              <a:ea typeface="Space Grotesk" charset="0"/>
              <a:cs typeface="Space Grotesk" charset="0"/>
            </a:endParaRPr>
          </a:p>
        </p:txBody>
      </p:sp>
      <p:sp>
        <p:nvSpPr>
          <p:cNvPr id="4" name="Text 2"/>
          <p:cNvSpPr/>
          <p:nvPr/>
        </p:nvSpPr>
        <p:spPr>
          <a:xfrm>
            <a:off x="812800" y="1935479"/>
            <a:ext cx="5860288" cy="23876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4A5568"/>
                </a:solidFill>
                <a:latin typeface="IBM Plex Sans" pitchFamily="34" charset="0"/>
                <a:ea typeface="IBM Plex Sans" pitchFamily="34" charset="-122"/>
                <a:cs typeface="IBM Plex Sans" pitchFamily="34" charset="-120"/>
              </a:rPr>
              <a:t>DFW · 23 APR 2025 · MISSED</a:t>
            </a:r>
            <a:endParaRPr lang="en-US" sz="1200" dirty="0">
              <a:latin typeface="IBM Plex Sans" charset="0"/>
              <a:ea typeface="IBM Plex Sans" charset="0"/>
              <a:cs typeface="IBM Plex Sans" charset="0"/>
            </a:endParaRPr>
          </a:p>
        </p:txBody>
      </p:sp>
      <p:sp>
        <p:nvSpPr>
          <p:cNvPr id="5" name="Text 3"/>
          <p:cNvSpPr/>
          <p:nvPr/>
        </p:nvSpPr>
        <p:spPr>
          <a:xfrm>
            <a:off x="812800" y="2301242"/>
            <a:ext cx="5860288"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4213D"/>
                </a:solidFill>
                <a:latin typeface="Space Grotesk" pitchFamily="34" charset="0"/>
                <a:ea typeface="Space Grotesk" pitchFamily="34" charset="-122"/>
                <a:cs typeface="Space Grotesk" pitchFamily="34" charset="-120"/>
              </a:rPr>
              <a:t>9 of 11</a:t>
            </a:r>
            <a:endParaRPr lang="en-US" sz="6000" dirty="0">
              <a:latin typeface="Space Grotesk" charset="0"/>
              <a:ea typeface="Space Grotesk" charset="0"/>
              <a:cs typeface="Space Grotesk" charset="0"/>
            </a:endParaRPr>
          </a:p>
        </p:txBody>
      </p:sp>
      <p:sp>
        <p:nvSpPr>
          <p:cNvPr id="6" name="Text 4"/>
          <p:cNvSpPr/>
          <p:nvPr/>
        </p:nvSpPr>
        <p:spPr>
          <a:xfrm>
            <a:off x="812800" y="3215642"/>
            <a:ext cx="5860288"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flights badly late. The model expected about 2.</a:t>
            </a:r>
            <a:endParaRPr lang="en-US" sz="1600" dirty="0">
              <a:latin typeface="IBM Plex Sans" charset="0"/>
              <a:ea typeface="IBM Plex Sans" charset="0"/>
              <a:cs typeface="IBM Plex Sans" charset="0"/>
            </a:endParaRPr>
          </a:p>
        </p:txBody>
      </p:sp>
      <p:sp>
        <p:nvSpPr>
          <p:cNvPr id="7" name="Text 5"/>
          <p:cNvSpPr/>
          <p:nvPr/>
        </p:nvSpPr>
        <p:spPr>
          <a:xfrm>
            <a:off x="812800" y="3652521"/>
            <a:ext cx="586028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Why: overcast 3 h before; the storm formed later; most delay was late aircraft.</a:t>
            </a:r>
            <a:endParaRPr lang="en-US" sz="1400" dirty="0">
              <a:latin typeface="IBM Plex Sans" charset="0"/>
              <a:ea typeface="IBM Plex Sans" charset="0"/>
              <a:cs typeface="IBM Plex Sans" charset="0"/>
            </a:endParaRPr>
          </a:p>
        </p:txBody>
      </p:sp>
      <p:sp>
        <p:nvSpPr>
          <p:cNvPr id="8" name="Text 6"/>
          <p:cNvSpPr/>
          <p:nvPr/>
        </p:nvSpPr>
        <p:spPr>
          <a:xfrm>
            <a:off x="812800" y="4302758"/>
            <a:ext cx="5860288"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5568"/>
                </a:solidFill>
                <a:latin typeface="IBM Plex Sans" pitchFamily="34" charset="0"/>
                <a:ea typeface="IBM Plex Sans" pitchFamily="34" charset="-122"/>
                <a:cs typeface="IBM Plex Sans" pitchFamily="34" charset="-120"/>
              </a:rPr>
              <a:t>False alarm, DFW 30 May 2025:</a:t>
            </a:r>
            <a:r>
              <a:rPr lang="en-US" sz="1400" dirty="0">
                <a:solidFill>
                  <a:srgbClr val="4A5568"/>
                </a:solidFill>
                <a:latin typeface="IBM Plex Sans" pitchFamily="34" charset="0"/>
                <a:ea typeface="IBM Plex Sans" pitchFamily="34" charset="-122"/>
                <a:cs typeface="IBM Plex Sans" pitchFamily="34" charset="-120"/>
              </a:rPr>
              <a:t> a north wind was counted as a tailwind on runway 180°.</a:t>
            </a:r>
            <a:endParaRPr lang="en-US" sz="1400" dirty="0">
              <a:latin typeface="IBM Plex Sans" charset="0"/>
              <a:ea typeface="IBM Plex Sans" charset="0"/>
              <a:cs typeface="IBM Plex Sans" charset="0"/>
            </a:endParaRPr>
          </a:p>
        </p:txBody>
      </p:sp>
      <p:sp>
        <p:nvSpPr>
          <p:cNvPr id="9" name="Shape 7"/>
          <p:cNvSpPr/>
          <p:nvPr/>
        </p:nvSpPr>
        <p:spPr>
          <a:xfrm>
            <a:off x="6807200" y="1935479"/>
            <a:ext cx="4572000" cy="3906520"/>
          </a:xfrm>
          <a:prstGeom prst="roundRect">
            <a:avLst>
              <a:gd name="adj" fmla="val 2601"/>
            </a:avLst>
          </a:prstGeom>
          <a:solidFill>
            <a:srgbClr val="14213D"/>
          </a:solidFill>
          <a:ln/>
        </p:spPr>
        <p:txBody>
          <a:bodyPr/>
          <a:lstStyle/>
          <a:p>
            <a:endParaRPr lang="en-SG"/>
          </a:p>
        </p:txBody>
      </p:sp>
      <p:sp>
        <p:nvSpPr>
          <p:cNvPr id="10" name="Text 8"/>
          <p:cNvSpPr/>
          <p:nvPr/>
        </p:nvSpPr>
        <p:spPr>
          <a:xfrm>
            <a:off x="7061200" y="2189479"/>
            <a:ext cx="418592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8A33D"/>
                </a:solidFill>
                <a:latin typeface="IBM Plex Sans" pitchFamily="34" charset="0"/>
                <a:ea typeface="IBM Plex Sans" pitchFamily="34" charset="-122"/>
                <a:cs typeface="IBM Plex Sans" pitchFamily="34" charset="-120"/>
              </a:rPr>
              <a:t>How the coordinator notices</a:t>
            </a:r>
            <a:endParaRPr lang="en-US" sz="1600" dirty="0">
              <a:latin typeface="IBM Plex Sans" charset="0"/>
              <a:ea typeface="IBM Plex Sans" charset="0"/>
              <a:cs typeface="IBM Plex Sans" charset="0"/>
            </a:endParaRPr>
          </a:p>
        </p:txBody>
      </p:sp>
      <p:sp>
        <p:nvSpPr>
          <p:cNvPr id="11" name="Text 9"/>
          <p:cNvSpPr/>
          <p:nvPr/>
        </p:nvSpPr>
        <p:spPr>
          <a:xfrm>
            <a:off x="7139432" y="2534921"/>
            <a:ext cx="4100068" cy="1314450"/>
          </a:xfrm>
          <a:prstGeom prst="rect">
            <a:avLst/>
          </a:prstGeom>
          <a:noFill/>
          <a:ln/>
        </p:spPr>
        <p:txBody>
          <a:bodyPr wrap="square" lIns="0" tIns="0" rIns="0" bIns="0" rtlCol="0" anchor="t">
            <a:normAutofit/>
          </a:bodyPr>
          <a:lstStyle/>
          <a:p>
            <a:pPr marL="175768" indent="-175768" algn="l">
              <a:lnSpc>
                <a:spcPts val="2030"/>
              </a:lnSpc>
              <a:buSzPct val="100000"/>
              <a:buChar char="•"/>
            </a:pPr>
            <a:r>
              <a:rPr lang="en-US" sz="1400" dirty="0">
                <a:solidFill>
                  <a:srgbClr val="BFCCDD"/>
                </a:solidFill>
                <a:latin typeface="IBM Plex Sans" pitchFamily="34" charset="0"/>
                <a:ea typeface="IBM Plex Sans" pitchFamily="34" charset="-122"/>
                <a:cs typeface="IBM Plex Sans" pitchFamily="34" charset="-120"/>
              </a:rPr>
              <a:t>Trust line on the dashboard: “ties the weather rule at 3 h”</a:t>
            </a:r>
            <a:endParaRPr lang="en-US" sz="1400" dirty="0">
              <a:latin typeface="IBM Plex Sans" charset="0"/>
              <a:ea typeface="IBM Plex Sans" charset="0"/>
              <a:cs typeface="IBM Plex Sans" charset="0"/>
            </a:endParaRPr>
          </a:p>
          <a:p>
            <a:pPr marL="175768" indent="-175768" algn="l">
              <a:lnSpc>
                <a:spcPts val="2030"/>
              </a:lnSpc>
              <a:buSzPct val="100000"/>
              <a:buChar char="•"/>
            </a:pPr>
            <a:r>
              <a:rPr lang="en-US" sz="1400" dirty="0">
                <a:solidFill>
                  <a:srgbClr val="BFCCDD"/>
                </a:solidFill>
                <a:latin typeface="IBM Plex Sans" pitchFamily="34" charset="0"/>
                <a:ea typeface="IBM Plex Sans" pitchFamily="34" charset="-122"/>
                <a:cs typeface="IBM Plex Sans" pitchFamily="34" charset="-120"/>
              </a:rPr>
              <a:t>Calibration chart</a:t>
            </a:r>
            <a:endParaRPr lang="en-US" sz="1400" dirty="0">
              <a:latin typeface="IBM Plex Sans" charset="0"/>
              <a:ea typeface="IBM Plex Sans" charset="0"/>
              <a:cs typeface="IBM Plex Sans" charset="0"/>
            </a:endParaRPr>
          </a:p>
          <a:p>
            <a:pPr marL="175768" indent="-175768" algn="l">
              <a:lnSpc>
                <a:spcPts val="2030"/>
              </a:lnSpc>
              <a:buSzPct val="100000"/>
              <a:buChar char="•"/>
            </a:pPr>
            <a:r>
              <a:rPr lang="en-US" sz="1400" dirty="0">
                <a:solidFill>
                  <a:srgbClr val="BFCCDD"/>
                </a:solidFill>
                <a:latin typeface="IBM Plex Sans" pitchFamily="34" charset="0"/>
                <a:ea typeface="IBM Plex Sans" pitchFamily="34" charset="-122"/>
                <a:cs typeface="IBM Plex Sans" pitchFamily="34" charset="-120"/>
              </a:rPr>
              <a:t>The “similar flights were late X%” range</a:t>
            </a:r>
            <a:endParaRPr lang="en-US" sz="1400" dirty="0">
              <a:latin typeface="IBM Plex Sans" charset="0"/>
              <a:ea typeface="IBM Plex Sans" charset="0"/>
              <a:cs typeface="IBM Plex Sans" charset="0"/>
            </a:endParaRPr>
          </a:p>
          <a:p>
            <a:pPr marL="175768" indent="-175768" algn="l">
              <a:lnSpc>
                <a:spcPts val="2030"/>
              </a:lnSpc>
              <a:buSzPct val="100000"/>
              <a:buChar char="•"/>
            </a:pPr>
            <a:r>
              <a:rPr lang="en-US" sz="1400" dirty="0">
                <a:solidFill>
                  <a:srgbClr val="BFCCDD"/>
                </a:solidFill>
                <a:latin typeface="IBM Plex Sans" pitchFamily="34" charset="0"/>
                <a:ea typeface="IBM Plex Sans" pitchFamily="34" charset="-122"/>
                <a:cs typeface="IBM Plex Sans" pitchFamily="34" charset="-120"/>
              </a:rPr>
              <a:t>These failure days are shown in the app</a:t>
            </a:r>
            <a:endParaRPr lang="en-US" sz="1400" dirty="0">
              <a:latin typeface="IBM Plex Sans" charset="0"/>
              <a:ea typeface="IBM Plex Sans" charset="0"/>
              <a:cs typeface="IBM Plex Sans" charset="0"/>
            </a:endParaRPr>
          </a:p>
        </p:txBody>
      </p:sp>
      <p:sp>
        <p:nvSpPr>
          <p:cNvPr id="12" name="Text 10"/>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Source: outputs/metrics/pitch.md, failure_cases.md · 9 / 10</a:t>
            </a:r>
            <a:endParaRPr lang="en-US" sz="1200" dirty="0">
              <a:latin typeface="IBM Plex Sans" charset="0"/>
              <a:ea typeface="IBM Plex Sans" charset="0"/>
              <a:cs typeface="IBM Plex Sans"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E8A33D"/>
                </a:solidFill>
                <a:latin typeface="IBM Plex Sans" pitchFamily="34" charset="0"/>
                <a:ea typeface="IBM Plex Sans" pitchFamily="34" charset="-122"/>
                <a:cs typeface="IBM Plex Sans" pitchFamily="34" charset="-120"/>
              </a:rPr>
              <a:t>HONEST LIMITS</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277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7F5F0"/>
                </a:solidFill>
                <a:latin typeface="Space Grotesk" pitchFamily="34" charset="0"/>
                <a:ea typeface="Space Grotesk" pitchFamily="34" charset="-122"/>
                <a:cs typeface="Space Grotesk" pitchFamily="34" charset="-120"/>
              </a:rPr>
              <a:t>Limits, next steps, and the payoff</a:t>
            </a:r>
            <a:endParaRPr lang="en-US" sz="3600" dirty="0">
              <a:latin typeface="Space Grotesk" charset="0"/>
              <a:ea typeface="Space Grotesk" charset="0"/>
              <a:cs typeface="Space Grotesk" charset="0"/>
            </a:endParaRPr>
          </a:p>
        </p:txBody>
      </p:sp>
      <p:sp>
        <p:nvSpPr>
          <p:cNvPr id="4" name="Shape 2"/>
          <p:cNvSpPr/>
          <p:nvPr/>
        </p:nvSpPr>
        <p:spPr>
          <a:xfrm>
            <a:off x="815975" y="1938654"/>
            <a:ext cx="3384550" cy="3900170"/>
          </a:xfrm>
          <a:prstGeom prst="roundRect">
            <a:avLst>
              <a:gd name="adj" fmla="val 2908"/>
            </a:avLst>
          </a:prstGeom>
          <a:solidFill>
            <a:srgbClr val="1E2D4F"/>
          </a:solidFill>
          <a:ln w="6350">
            <a:solidFill>
              <a:srgbClr val="2E4068"/>
            </a:solidFill>
            <a:prstDash val="solid"/>
          </a:ln>
        </p:spPr>
        <p:txBody>
          <a:bodyPr/>
          <a:lstStyle/>
          <a:p>
            <a:endParaRPr lang="en-SG"/>
          </a:p>
        </p:txBody>
      </p:sp>
      <p:sp>
        <p:nvSpPr>
          <p:cNvPr id="5" name="Text 3"/>
          <p:cNvSpPr/>
          <p:nvPr/>
        </p:nvSpPr>
        <p:spPr>
          <a:xfrm>
            <a:off x="1022350" y="2145029"/>
            <a:ext cx="306095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5F0"/>
                </a:solidFill>
                <a:latin typeface="IBM Plex Sans" pitchFamily="34" charset="0"/>
                <a:ea typeface="IBM Plex Sans" pitchFamily="34" charset="-122"/>
                <a:cs typeface="IBM Plex Sans" pitchFamily="34" charset="-120"/>
              </a:rPr>
              <a:t>Limits</a:t>
            </a:r>
            <a:endParaRPr lang="en-US" sz="1600" dirty="0">
              <a:latin typeface="IBM Plex Sans" charset="0"/>
              <a:ea typeface="IBM Plex Sans" charset="0"/>
              <a:cs typeface="IBM Plex Sans" charset="0"/>
            </a:endParaRPr>
          </a:p>
        </p:txBody>
      </p:sp>
      <p:sp>
        <p:nvSpPr>
          <p:cNvPr id="6" name="Text 4"/>
          <p:cNvSpPr/>
          <p:nvPr/>
        </p:nvSpPr>
        <p:spPr>
          <a:xfrm>
            <a:off x="1121156" y="2490471"/>
            <a:ext cx="2954528" cy="2020570"/>
          </a:xfrm>
          <a:prstGeom prst="rect">
            <a:avLst/>
          </a:prstGeom>
          <a:noFill/>
          <a:ln/>
        </p:spPr>
        <p:txBody>
          <a:bodyPr wrap="square" lIns="0" tIns="0" rIns="0" bIns="0" rtlCol="0" anchor="t">
            <a:normAutofit/>
          </a:bodyPr>
          <a:lstStyle/>
          <a:p>
            <a:pPr marL="155194" indent="-155194" algn="l">
              <a:lnSpc>
                <a:spcPts val="1740"/>
              </a:lnSpc>
              <a:buSzPct val="100000"/>
              <a:buChar char="•"/>
            </a:pPr>
            <a:r>
              <a:rPr lang="en-US" sz="1200" dirty="0">
                <a:solidFill>
                  <a:srgbClr val="BFCCDD"/>
                </a:solidFill>
                <a:latin typeface="IBM Plex Sans" pitchFamily="34" charset="0"/>
                <a:ea typeface="IBM Plex Sans" pitchFamily="34" charset="-122"/>
                <a:cs typeface="IBM Plex Sans" pitchFamily="34" charset="-120"/>
              </a:rPr>
              <a:t>Most misses are calm-weather delays (late aircraft, airline ops)</a:t>
            </a:r>
            <a:endParaRPr lang="en-US" sz="1200" dirty="0">
              <a:latin typeface="IBM Plex Sans" charset="0"/>
              <a:ea typeface="IBM Plex Sans" charset="0"/>
              <a:cs typeface="IBM Plex Sans" charset="0"/>
            </a:endParaRPr>
          </a:p>
          <a:p>
            <a:pPr marL="155194" indent="-155194" algn="l">
              <a:lnSpc>
                <a:spcPts val="1740"/>
              </a:lnSpc>
              <a:buSzPct val="100000"/>
              <a:buChar char="•"/>
            </a:pPr>
            <a:r>
              <a:rPr lang="en-US" sz="1200" dirty="0">
                <a:solidFill>
                  <a:srgbClr val="BFCCDD"/>
                </a:solidFill>
                <a:latin typeface="IBM Plex Sans" pitchFamily="34" charset="0"/>
                <a:ea typeface="IBM Plex Sans" pitchFamily="34" charset="-122"/>
                <a:cs typeface="IBM Plex Sans" pitchFamily="34" charset="-120"/>
              </a:rPr>
              <a:t>2025 had more delays (13.2% vs ~10%), so risks read low</a:t>
            </a:r>
            <a:endParaRPr lang="en-US" sz="1200" dirty="0">
              <a:latin typeface="IBM Plex Sans" charset="0"/>
              <a:ea typeface="IBM Plex Sans" charset="0"/>
              <a:cs typeface="IBM Plex Sans" charset="0"/>
            </a:endParaRPr>
          </a:p>
          <a:p>
            <a:pPr marL="155194" indent="-155194" algn="l">
              <a:lnSpc>
                <a:spcPts val="1740"/>
              </a:lnSpc>
              <a:buSzPct val="100000"/>
              <a:buChar char="•"/>
            </a:pPr>
            <a:r>
              <a:rPr lang="en-US" sz="1200" dirty="0">
                <a:solidFill>
                  <a:srgbClr val="BFCCDD"/>
                </a:solidFill>
                <a:latin typeface="IBM Plex Sans" pitchFamily="34" charset="0"/>
                <a:ea typeface="IBM Plex Sans" pitchFamily="34" charset="-122"/>
                <a:cs typeface="IBM Plex Sans" pitchFamily="34" charset="-120"/>
              </a:rPr>
              <a:t>Weather only at ATL/DFW; flight file is a ~0.5% sample; no gust or snow data</a:t>
            </a:r>
            <a:endParaRPr lang="en-US" sz="1200" dirty="0">
              <a:latin typeface="IBM Plex Sans" charset="0"/>
              <a:ea typeface="IBM Plex Sans" charset="0"/>
              <a:cs typeface="IBM Plex Sans" charset="0"/>
            </a:endParaRPr>
          </a:p>
          <a:p>
            <a:pPr marL="155194" indent="-155194" algn="l">
              <a:lnSpc>
                <a:spcPts val="1740"/>
              </a:lnSpc>
              <a:buSzPct val="100000"/>
              <a:buChar char="•"/>
            </a:pPr>
            <a:r>
              <a:rPr lang="en-US" sz="1200" dirty="0">
                <a:solidFill>
                  <a:srgbClr val="BFCCDD"/>
                </a:solidFill>
                <a:latin typeface="IBM Plex Sans" pitchFamily="34" charset="0"/>
                <a:ea typeface="IBM Plex Sans" pitchFamily="34" charset="-122"/>
                <a:cs typeface="IBM Plex Sans" pitchFamily="34" charset="-120"/>
              </a:rPr>
              <a:t>Demo days hand-picked; airports, runways and thresholds come from config</a:t>
            </a:r>
            <a:endParaRPr lang="en-US" sz="1200" dirty="0">
              <a:latin typeface="IBM Plex Sans" charset="0"/>
              <a:ea typeface="IBM Plex Sans" charset="0"/>
              <a:cs typeface="IBM Plex Sans" charset="0"/>
            </a:endParaRPr>
          </a:p>
        </p:txBody>
      </p:sp>
      <p:sp>
        <p:nvSpPr>
          <p:cNvPr id="7" name="Shape 5"/>
          <p:cNvSpPr/>
          <p:nvPr/>
        </p:nvSpPr>
        <p:spPr>
          <a:xfrm>
            <a:off x="4410075" y="1938654"/>
            <a:ext cx="3384550" cy="3900170"/>
          </a:xfrm>
          <a:prstGeom prst="roundRect">
            <a:avLst>
              <a:gd name="adj" fmla="val 2908"/>
            </a:avLst>
          </a:prstGeom>
          <a:solidFill>
            <a:srgbClr val="1E2D4F"/>
          </a:solidFill>
          <a:ln w="6350">
            <a:solidFill>
              <a:srgbClr val="2E4068"/>
            </a:solidFill>
            <a:prstDash val="solid"/>
          </a:ln>
        </p:spPr>
        <p:txBody>
          <a:bodyPr/>
          <a:lstStyle/>
          <a:p>
            <a:endParaRPr lang="en-SG"/>
          </a:p>
        </p:txBody>
      </p:sp>
      <p:sp>
        <p:nvSpPr>
          <p:cNvPr id="8" name="Text 6"/>
          <p:cNvSpPr/>
          <p:nvPr/>
        </p:nvSpPr>
        <p:spPr>
          <a:xfrm>
            <a:off x="4616450" y="2145029"/>
            <a:ext cx="306095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5F0"/>
                </a:solidFill>
                <a:latin typeface="IBM Plex Sans" pitchFamily="34" charset="0"/>
                <a:ea typeface="IBM Plex Sans" pitchFamily="34" charset="-122"/>
                <a:cs typeface="IBM Plex Sans" pitchFamily="34" charset="-120"/>
              </a:rPr>
              <a:t>Next steps</a:t>
            </a:r>
            <a:endParaRPr lang="en-US" sz="1600" dirty="0">
              <a:latin typeface="IBM Plex Sans" charset="0"/>
              <a:ea typeface="IBM Plex Sans" charset="0"/>
              <a:cs typeface="IBM Plex Sans" charset="0"/>
            </a:endParaRPr>
          </a:p>
        </p:txBody>
      </p:sp>
      <p:sp>
        <p:nvSpPr>
          <p:cNvPr id="9" name="Text 7"/>
          <p:cNvSpPr/>
          <p:nvPr/>
        </p:nvSpPr>
        <p:spPr>
          <a:xfrm>
            <a:off x="4715256" y="2490471"/>
            <a:ext cx="2954528" cy="1578610"/>
          </a:xfrm>
          <a:prstGeom prst="rect">
            <a:avLst/>
          </a:prstGeom>
          <a:noFill/>
          <a:ln/>
        </p:spPr>
        <p:txBody>
          <a:bodyPr wrap="square" lIns="0" tIns="0" rIns="0" bIns="0" rtlCol="0" anchor="t">
            <a:normAutofit/>
          </a:bodyPr>
          <a:lstStyle/>
          <a:p>
            <a:pPr marL="155194" indent="-155194" algn="l">
              <a:lnSpc>
                <a:spcPts val="1740"/>
              </a:lnSpc>
              <a:buSzPct val="100000"/>
              <a:buChar char="•"/>
            </a:pPr>
            <a:r>
              <a:rPr lang="en-US" sz="1200" dirty="0">
                <a:solidFill>
                  <a:srgbClr val="BFCCDD"/>
                </a:solidFill>
                <a:latin typeface="IBM Plex Sans" pitchFamily="34" charset="0"/>
                <a:ea typeface="IBM Plex Sans" pitchFamily="34" charset="-122"/>
                <a:cs typeface="IBM Plex Sans" pitchFamily="34" charset="-120"/>
              </a:rPr>
              <a:t>Airport-congestion features from full BTS data (+0.04 PR-AUC at 3 h in an earlier version)</a:t>
            </a:r>
            <a:endParaRPr lang="en-US" sz="1200" dirty="0">
              <a:latin typeface="IBM Plex Sans" charset="0"/>
              <a:ea typeface="IBM Plex Sans" charset="0"/>
              <a:cs typeface="IBM Plex Sans" charset="0"/>
            </a:endParaRPr>
          </a:p>
          <a:p>
            <a:pPr marL="155194" indent="-155194" algn="l">
              <a:lnSpc>
                <a:spcPts val="1740"/>
              </a:lnSpc>
              <a:buSzPct val="100000"/>
              <a:buChar char="•"/>
            </a:pPr>
            <a:r>
              <a:rPr lang="en-US" sz="1200" dirty="0">
                <a:solidFill>
                  <a:srgbClr val="BFCCDD"/>
                </a:solidFill>
                <a:latin typeface="IBM Plex Sans" pitchFamily="34" charset="0"/>
                <a:ea typeface="IBM Plex Sans" pitchFamily="34" charset="-122"/>
                <a:cs typeface="IBM Plex Sans" pitchFamily="34" charset="-120"/>
              </a:rPr>
              <a:t>Weather forecasts, not just observations</a:t>
            </a:r>
            <a:endParaRPr lang="en-US" sz="1200" dirty="0">
              <a:latin typeface="IBM Plex Sans" charset="0"/>
              <a:ea typeface="IBM Plex Sans" charset="0"/>
              <a:cs typeface="IBM Plex Sans" charset="0"/>
            </a:endParaRPr>
          </a:p>
          <a:p>
            <a:pPr marL="155194" indent="-155194" algn="l">
              <a:lnSpc>
                <a:spcPts val="1740"/>
              </a:lnSpc>
              <a:buSzPct val="100000"/>
              <a:buChar char="•"/>
            </a:pPr>
            <a:r>
              <a:rPr lang="en-US" sz="1200" dirty="0">
                <a:solidFill>
                  <a:srgbClr val="BFCCDD"/>
                </a:solidFill>
                <a:latin typeface="IBM Plex Sans" pitchFamily="34" charset="0"/>
                <a:ea typeface="IBM Plex Sans" pitchFamily="34" charset="-122"/>
                <a:cs typeface="IBM Plex Sans" pitchFamily="34" charset="-120"/>
              </a:rPr>
              <a:t>Origin-airport weather</a:t>
            </a:r>
            <a:endParaRPr lang="en-US" sz="1200" dirty="0">
              <a:latin typeface="IBM Plex Sans" charset="0"/>
              <a:ea typeface="IBM Plex Sans" charset="0"/>
              <a:cs typeface="IBM Plex Sans" charset="0"/>
            </a:endParaRPr>
          </a:p>
          <a:p>
            <a:pPr marL="155194" indent="-155194" algn="l">
              <a:lnSpc>
                <a:spcPts val="1740"/>
              </a:lnSpc>
              <a:buSzPct val="100000"/>
              <a:buChar char="•"/>
            </a:pPr>
            <a:r>
              <a:rPr lang="en-US" sz="1200" dirty="0">
                <a:solidFill>
                  <a:srgbClr val="BFCCDD"/>
                </a:solidFill>
                <a:latin typeface="IBM Plex Sans" pitchFamily="34" charset="0"/>
                <a:ea typeface="IBM Plex Sans" pitchFamily="34" charset="-122"/>
                <a:cs typeface="IBM Plex Sans" pitchFamily="34" charset="-120"/>
              </a:rPr>
              <a:t>Wider arrival ranges in severe weather</a:t>
            </a:r>
            <a:endParaRPr lang="en-US" sz="1200" dirty="0">
              <a:latin typeface="IBM Plex Sans" charset="0"/>
              <a:ea typeface="IBM Plex Sans" charset="0"/>
              <a:cs typeface="IBM Plex Sans" charset="0"/>
            </a:endParaRPr>
          </a:p>
        </p:txBody>
      </p:sp>
      <p:sp>
        <p:nvSpPr>
          <p:cNvPr id="10" name="Shape 8"/>
          <p:cNvSpPr/>
          <p:nvPr/>
        </p:nvSpPr>
        <p:spPr>
          <a:xfrm>
            <a:off x="8001000" y="1935479"/>
            <a:ext cx="3378200" cy="3906520"/>
          </a:xfrm>
          <a:prstGeom prst="roundRect">
            <a:avLst>
              <a:gd name="adj" fmla="val 3008"/>
            </a:avLst>
          </a:prstGeom>
          <a:solidFill>
            <a:srgbClr val="E8A33D"/>
          </a:solidFill>
          <a:ln/>
        </p:spPr>
        <p:txBody>
          <a:bodyPr/>
          <a:lstStyle/>
          <a:p>
            <a:endParaRPr lang="en-SG"/>
          </a:p>
        </p:txBody>
      </p:sp>
      <p:sp>
        <p:nvSpPr>
          <p:cNvPr id="11" name="Text 9"/>
          <p:cNvSpPr/>
          <p:nvPr/>
        </p:nvSpPr>
        <p:spPr>
          <a:xfrm>
            <a:off x="8204200" y="2138679"/>
            <a:ext cx="306095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Impact (measured on 2025)</a:t>
            </a:r>
            <a:endParaRPr lang="en-US" sz="1600" dirty="0">
              <a:latin typeface="IBM Plex Sans" charset="0"/>
              <a:ea typeface="IBM Plex Sans" charset="0"/>
              <a:cs typeface="IBM Plex Sans" charset="0"/>
            </a:endParaRPr>
          </a:p>
        </p:txBody>
      </p:sp>
      <p:sp>
        <p:nvSpPr>
          <p:cNvPr id="12" name="Text 10"/>
          <p:cNvSpPr/>
          <p:nvPr/>
        </p:nvSpPr>
        <p:spPr>
          <a:xfrm>
            <a:off x="8204200" y="2484121"/>
            <a:ext cx="3060954"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4213D"/>
                </a:solidFill>
                <a:latin typeface="Space Grotesk" pitchFamily="34" charset="0"/>
                <a:ea typeface="Space Grotesk" pitchFamily="34" charset="-122"/>
                <a:cs typeface="Space Grotesk" pitchFamily="34" charset="-120"/>
              </a:rPr>
              <a:t>~Half</a:t>
            </a:r>
            <a:endParaRPr lang="en-US" sz="3600" dirty="0">
              <a:latin typeface="Space Grotesk" charset="0"/>
              <a:ea typeface="Space Grotesk" charset="0"/>
              <a:cs typeface="Space Grotesk" charset="0"/>
            </a:endParaRPr>
          </a:p>
        </p:txBody>
      </p:sp>
      <p:sp>
        <p:nvSpPr>
          <p:cNvPr id="13" name="Text 11"/>
          <p:cNvSpPr/>
          <p:nvPr/>
        </p:nvSpPr>
        <p:spPr>
          <a:xfrm>
            <a:off x="8204200" y="3042921"/>
            <a:ext cx="306095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of badly late flights flagged 3–12 h ahead, so the coordinator can plan instead of react</a:t>
            </a:r>
            <a:endParaRPr lang="en-US" sz="1200" dirty="0">
              <a:latin typeface="IBM Plex Sans" charset="0"/>
              <a:ea typeface="IBM Plex Sans" charset="0"/>
              <a:cs typeface="IBM Plex Sans" charset="0"/>
            </a:endParaRPr>
          </a:p>
        </p:txBody>
      </p:sp>
      <p:sp>
        <p:nvSpPr>
          <p:cNvPr id="14" name="Text 12"/>
          <p:cNvSpPr/>
          <p:nvPr/>
        </p:nvSpPr>
        <p:spPr>
          <a:xfrm>
            <a:off x="8204200" y="3571242"/>
            <a:ext cx="3060954"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1.7× better ranking than guessing; +9% vs the weather rule at 12 h. No cost savings claimed.</a:t>
            </a:r>
            <a:endParaRPr lang="en-US" sz="1200" dirty="0">
              <a:latin typeface="IBM Plex Sans" charset="0"/>
              <a:ea typeface="IBM Plex Sans" charset="0"/>
              <a:cs typeface="IBM Plex Sans" charset="0"/>
            </a:endParaRPr>
          </a:p>
        </p:txBody>
      </p:sp>
      <p:sp>
        <p:nvSpPr>
          <p:cNvPr id="15" name="Text 13"/>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0BA"/>
                </a:solidFill>
                <a:latin typeface="IBM Plex Sans" pitchFamily="34" charset="0"/>
                <a:ea typeface="IBM Plex Sans" pitchFamily="34" charset="-122"/>
                <a:cs typeface="IBM Plex Sans" pitchFamily="34" charset="-120"/>
              </a:rPr>
              <a:t>10 / 10</a:t>
            </a:r>
            <a:endParaRPr lang="en-US" sz="1200" dirty="0">
              <a:latin typeface="IBM Plex Sans" charset="0"/>
              <a:ea typeface="IBM Plex Sans" charset="0"/>
              <a:cs typeface="IBM Plex Sans"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A15C07"/>
                </a:solidFill>
                <a:latin typeface="IBM Plex Sans" pitchFamily="34" charset="0"/>
                <a:ea typeface="IBM Plex Sans" pitchFamily="34" charset="-122"/>
                <a:cs typeface="IBM Plex Sans" pitchFamily="34" charset="-120"/>
              </a:rPr>
              <a:t>APPENDIX</a:t>
            </a:r>
            <a:endParaRPr lang="en-US" sz="1200" dirty="0">
              <a:latin typeface="IBM Plex Sans" charset="0"/>
              <a:ea typeface="IBM Plex Sans" charset="0"/>
              <a:cs typeface="IBM Plex Sans" charset="0"/>
            </a:endParaRPr>
          </a:p>
        </p:txBody>
      </p:sp>
      <p:sp>
        <p:nvSpPr>
          <p:cNvPr id="3" name="Text 1"/>
          <p:cNvSpPr>
            <a:spLocks noGrp="1"/>
          </p:cNvSpPr>
          <p:nvPr>
            <p:ph type="title"/>
          </p:nvPr>
        </p:nvSpPr>
        <p:spPr>
          <a:xfrm>
            <a:off x="812800" y="11277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Sources, assumptions and credits</a:t>
            </a:r>
            <a:endParaRPr lang="en-US" sz="3600" dirty="0">
              <a:latin typeface="Space Grotesk" charset="0"/>
              <a:ea typeface="Space Grotesk" charset="0"/>
              <a:cs typeface="Space Grotesk" charset="0"/>
            </a:endParaRPr>
          </a:p>
        </p:txBody>
      </p:sp>
      <p:sp>
        <p:nvSpPr>
          <p:cNvPr id="4" name="Shape 2"/>
          <p:cNvSpPr/>
          <p:nvPr/>
        </p:nvSpPr>
        <p:spPr>
          <a:xfrm>
            <a:off x="815975" y="1887854"/>
            <a:ext cx="3380317" cy="3950970"/>
          </a:xfrm>
          <a:prstGeom prst="roundRect">
            <a:avLst>
              <a:gd name="adj" fmla="val 2912"/>
            </a:avLst>
          </a:prstGeom>
          <a:solidFill>
            <a:srgbClr val="FFFDF8"/>
          </a:solidFill>
          <a:ln w="6350">
            <a:solidFill>
              <a:srgbClr val="E2DED3"/>
            </a:solidFill>
            <a:prstDash val="solid"/>
          </a:ln>
        </p:spPr>
        <p:txBody>
          <a:bodyPr/>
          <a:lstStyle/>
          <a:p>
            <a:endParaRPr lang="en-SG"/>
          </a:p>
        </p:txBody>
      </p:sp>
      <p:sp>
        <p:nvSpPr>
          <p:cNvPr id="5" name="Text 3"/>
          <p:cNvSpPr/>
          <p:nvPr/>
        </p:nvSpPr>
        <p:spPr>
          <a:xfrm>
            <a:off x="1022350" y="2094229"/>
            <a:ext cx="305659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Sources</a:t>
            </a:r>
            <a:endParaRPr lang="en-US" sz="1600" dirty="0">
              <a:latin typeface="IBM Plex Sans" charset="0"/>
              <a:ea typeface="IBM Plex Sans" charset="0"/>
              <a:cs typeface="IBM Plex Sans" charset="0"/>
            </a:endParaRPr>
          </a:p>
        </p:txBody>
      </p:sp>
      <p:sp>
        <p:nvSpPr>
          <p:cNvPr id="6" name="Text 4"/>
          <p:cNvSpPr/>
          <p:nvPr/>
        </p:nvSpPr>
        <p:spPr>
          <a:xfrm>
            <a:off x="1121156" y="2414271"/>
            <a:ext cx="2950168" cy="216535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Weather: Meteostat (meteostat.net), CC BY 4.0, data from NOAA ISD (stations 72219 ATL, 72259 DFW)</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Flights: organiser file, Jan 2023 – Jul 2025</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Full flights for the arrivals model: US DOT BTS On-Time Performance (licence not verified)</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Results: outputs/metrics/pitch.md, metrics_ci.csv, failure_cases.md</a:t>
            </a:r>
            <a:endParaRPr lang="en-US" sz="1200" dirty="0">
              <a:latin typeface="IBM Plex Sans" charset="0"/>
              <a:ea typeface="IBM Plex Sans" charset="0"/>
              <a:cs typeface="IBM Plex Sans" charset="0"/>
            </a:endParaRPr>
          </a:p>
        </p:txBody>
      </p:sp>
      <p:sp>
        <p:nvSpPr>
          <p:cNvPr id="7" name="Shape 5"/>
          <p:cNvSpPr/>
          <p:nvPr/>
        </p:nvSpPr>
        <p:spPr>
          <a:xfrm>
            <a:off x="4405842" y="1887854"/>
            <a:ext cx="3380317" cy="3950970"/>
          </a:xfrm>
          <a:prstGeom prst="roundRect">
            <a:avLst>
              <a:gd name="adj" fmla="val 2912"/>
            </a:avLst>
          </a:prstGeom>
          <a:solidFill>
            <a:srgbClr val="FFFDF8"/>
          </a:solidFill>
          <a:ln w="6350">
            <a:solidFill>
              <a:srgbClr val="E2DED3"/>
            </a:solidFill>
            <a:prstDash val="solid"/>
          </a:ln>
        </p:spPr>
        <p:txBody>
          <a:bodyPr/>
          <a:lstStyle/>
          <a:p>
            <a:endParaRPr lang="en-SG"/>
          </a:p>
        </p:txBody>
      </p:sp>
      <p:sp>
        <p:nvSpPr>
          <p:cNvPr id="8" name="Text 6"/>
          <p:cNvSpPr/>
          <p:nvPr/>
        </p:nvSpPr>
        <p:spPr>
          <a:xfrm>
            <a:off x="4612217" y="2094229"/>
            <a:ext cx="305659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Assumptions</a:t>
            </a:r>
            <a:endParaRPr lang="en-US" sz="1600" dirty="0">
              <a:latin typeface="IBM Plex Sans" charset="0"/>
              <a:ea typeface="IBM Plex Sans" charset="0"/>
              <a:cs typeface="IBM Plex Sans" charset="0"/>
            </a:endParaRPr>
          </a:p>
        </p:txBody>
      </p:sp>
      <p:sp>
        <p:nvSpPr>
          <p:cNvPr id="9" name="Text 7"/>
          <p:cNvSpPr/>
          <p:nvPr/>
        </p:nvSpPr>
        <p:spPr>
          <a:xfrm>
            <a:off x="4711023" y="2414271"/>
            <a:ext cx="2950168" cy="1740217"/>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Runway headings 080° ATL, 180° DFW (organiser)</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1 h buffer on weather timestamps</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Cancelled flights not scored</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Rates = badly late events ÷ scored events</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Alert thresholds set on validation only (ATL 0.098, DFW 0.123)</a:t>
            </a:r>
            <a:endParaRPr lang="en-US" sz="1200" dirty="0">
              <a:latin typeface="IBM Plex Sans" charset="0"/>
              <a:ea typeface="IBM Plex Sans" charset="0"/>
              <a:cs typeface="IBM Plex Sans" charset="0"/>
            </a:endParaRPr>
          </a:p>
        </p:txBody>
      </p:sp>
      <p:sp>
        <p:nvSpPr>
          <p:cNvPr id="10" name="Shape 8"/>
          <p:cNvSpPr/>
          <p:nvPr/>
        </p:nvSpPr>
        <p:spPr>
          <a:xfrm>
            <a:off x="7995708" y="1887854"/>
            <a:ext cx="3380317" cy="3950970"/>
          </a:xfrm>
          <a:prstGeom prst="roundRect">
            <a:avLst>
              <a:gd name="adj" fmla="val 2912"/>
            </a:avLst>
          </a:prstGeom>
          <a:solidFill>
            <a:srgbClr val="FFFDF8"/>
          </a:solidFill>
          <a:ln w="6350">
            <a:solidFill>
              <a:srgbClr val="E2DED3"/>
            </a:solidFill>
            <a:prstDash val="solid"/>
          </a:ln>
        </p:spPr>
        <p:txBody>
          <a:bodyPr/>
          <a:lstStyle/>
          <a:p>
            <a:endParaRPr lang="en-SG"/>
          </a:p>
        </p:txBody>
      </p:sp>
      <p:sp>
        <p:nvSpPr>
          <p:cNvPr id="11" name="Text 9"/>
          <p:cNvSpPr/>
          <p:nvPr/>
        </p:nvSpPr>
        <p:spPr>
          <a:xfrm>
            <a:off x="8202083" y="2094229"/>
            <a:ext cx="305659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AI use &amp; team</a:t>
            </a:r>
            <a:endParaRPr lang="en-US" sz="1600" dirty="0">
              <a:latin typeface="IBM Plex Sans" charset="0"/>
              <a:ea typeface="IBM Plex Sans" charset="0"/>
              <a:cs typeface="IBM Plex Sans" charset="0"/>
            </a:endParaRPr>
          </a:p>
        </p:txBody>
      </p:sp>
      <p:sp>
        <p:nvSpPr>
          <p:cNvPr id="12" name="Text 10"/>
          <p:cNvSpPr/>
          <p:nvPr/>
        </p:nvSpPr>
        <p:spPr>
          <a:xfrm>
            <a:off x="8300889" y="2414271"/>
            <a:ext cx="2950168" cy="2163763"/>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No LLM at runtime: risk = LightGBM, recommendations = explicit rules, reasons = LightGBM feature contributions</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Built with AI coding help (Claude Code); explanatory text AI-drafted and reviewed by the team</a:t>
            </a:r>
            <a:endParaRPr lang="en-US" sz="1200" dirty="0">
              <a:latin typeface="IBM Plex Sans" charset="0"/>
              <a:ea typeface="IBM Plex Sans" charset="0"/>
              <a:cs typeface="IBM Plex Sans" charset="0"/>
            </a:endParaRPr>
          </a:p>
          <a:p>
            <a:pPr marL="155194" indent="-155194" algn="l">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P1 data &amp; features · P2 arrivals model · P3 delay model · P4 evaluation &amp; dashboard</a:t>
            </a:r>
            <a:endParaRPr lang="en-US" sz="1200" dirty="0">
              <a:latin typeface="IBM Plex Sans" charset="0"/>
              <a:ea typeface="IBM Plex Sans" charset="0"/>
              <a:cs typeface="IBM Plex Sans" charset="0"/>
            </a:endParaRPr>
          </a:p>
        </p:txBody>
      </p:sp>
      <p:sp>
        <p:nvSpPr>
          <p:cNvPr id="13" name="Text 11"/>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Appendix · not presented</a:t>
            </a:r>
            <a:endParaRPr lang="en-US" sz="1200" dirty="0">
              <a:latin typeface="IBM Plex Sans" charset="0"/>
              <a:ea typeface="IBM Plex Sans" charset="0"/>
              <a:cs typeface="IBM Plex Sans" charset="0"/>
            </a:endParaRPr>
          </a:p>
        </p:txBody>
      </p:sp>
    </p:spTree>
  </p:cSld>
  <p:clrMapOvr>
    <a:masterClrMapping/>
  </p:clrMapOvr>
</p:sld>
</file>

<file path=ppt/theme/theme1.xml><?xml version="1.0" encoding="utf-8"?>
<a:theme xmlns:a="http://schemas.openxmlformats.org/drawingml/2006/main" name="Delay Risk Pitch">
  <a:themeElements>
    <a:clrScheme name="Delay Risk Pitch">
      <a:dk1>
        <a:srgbClr val="14213D"/>
      </a:dk1>
      <a:lt1>
        <a:srgbClr val="F7F5F0"/>
      </a:lt1>
      <a:dk2>
        <a:srgbClr val="4D566A"/>
      </a:dk2>
      <a:lt2>
        <a:srgbClr val="E0E0DE"/>
      </a:lt2>
      <a:accent1>
        <a:srgbClr val="A15C07"/>
      </a:accent1>
      <a:accent2>
        <a:srgbClr val="E8A33D"/>
      </a:accent2>
      <a:accent3>
        <a:srgbClr val="8FA0BA"/>
      </a:accent3>
      <a:accent4>
        <a:srgbClr val="F3E3C7"/>
      </a:accent4>
      <a:accent5>
        <a:srgbClr val="3B7DD8"/>
      </a:accent5>
      <a:accent6>
        <a:srgbClr val="4A5568"/>
      </a:accent6>
      <a:hlink>
        <a:srgbClr val="0563C1"/>
      </a:hlink>
      <a:folHlink>
        <a:srgbClr val="954F72"/>
      </a:folHlink>
    </a:clrScheme>
    <a:fontScheme name="Delay Risk Pitch">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1784</Words>
  <Application>Microsoft Office PowerPoint</Application>
  <PresentationFormat>Widescreen</PresentationFormat>
  <Paragraphs>172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Space Grotesk</vt:lpstr>
      <vt:lpstr>Arial</vt:lpstr>
      <vt:lpstr>IBM Plex Sans</vt:lpstr>
      <vt:lpstr>Delay Risk Pitch</vt:lpstr>
      <vt:lpstr>Which flights tonight will be badly late?</vt:lpstr>
      <vt:lpstr>For every departure and arrival at ATL or DFW: what’s the chance it’s more than 45 minutes late?</vt:lpstr>
      <vt:lpstr>Two sources, joined on time and airport</vt:lpstr>
      <vt:lpstr>How it works, in five steps</vt:lpstr>
      <vt:lpstr>We never peek at future weather</vt:lpstr>
      <vt:lpstr>What the coordinator sees</vt:lpstr>
      <vt:lpstr>Ahead of strong operational baselines</vt:lpstr>
      <vt:lpstr>Weather is a small cause, but a sharp one</vt:lpstr>
      <vt:lpstr>Where it fails, and how you’d know</vt:lpstr>
      <vt:lpstr>Limits, next steps, and the payoff</vt:lpstr>
      <vt:lpstr>Sources, assumptions and credits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Delay Risk Pitch</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Dylan Lim</cp:lastModifiedBy>
  <cp:revision>2</cp:revision>
  <dcterms:created xsi:type="dcterms:W3CDTF">2026-10-31T08:15:03Z</dcterms:created>
  <dcterms:modified xsi:type="dcterms:W3CDTF">2026-10-31T08:30:04Z</dcterms:modified>
</cp:coreProperties>
</file>